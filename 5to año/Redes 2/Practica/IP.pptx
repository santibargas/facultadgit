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81" r:id="rId4"/>
    <p:sldId id="282"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93" r:id="rId21"/>
    <p:sldId id="286" r:id="rId22"/>
    <p:sldId id="294" r:id="rId23"/>
    <p:sldId id="283" r:id="rId24"/>
    <p:sldId id="287" r:id="rId25"/>
    <p:sldId id="272" r:id="rId26"/>
    <p:sldId id="273" r:id="rId27"/>
    <p:sldId id="285" r:id="rId28"/>
    <p:sldId id="284" r:id="rId29"/>
    <p:sldId id="274" r:id="rId30"/>
    <p:sldId id="288" r:id="rId31"/>
    <p:sldId id="289" r:id="rId32"/>
    <p:sldId id="290" r:id="rId33"/>
    <p:sldId id="291" r:id="rId34"/>
    <p:sldId id="275" r:id="rId35"/>
    <p:sldId id="276" r:id="rId36"/>
    <p:sldId id="278" r:id="rId37"/>
    <p:sldId id="277" r:id="rId38"/>
    <p:sldId id="280" r:id="rId39"/>
    <p:sldId id="279" r:id="rId40"/>
  </p:sldIdLst>
  <p:sldSz cx="9144000" cy="6858000" type="screen4x3"/>
  <p:notesSz cx="6858000" cy="9144000"/>
  <p:defaultTextStyle>
    <a:defPPr>
      <a:defRPr lang="es-AR"/>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562"/>
    <p:restoredTop sz="94660"/>
  </p:normalViewPr>
  <p:slideViewPr>
    <p:cSldViewPr showGuides="1">
      <p:cViewPr varScale="1">
        <p:scale>
          <a:sx n="100" d="100"/>
          <a:sy n="100" d="100"/>
        </p:scale>
        <p:origin x="-25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Marcador de posición de fecha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pie de página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número de diapositiva 5"/>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hasCustomPrompt="1"/>
          </p:nvPr>
        </p:nvSpPr>
        <p:spPr/>
        <p:txBody>
          <a:body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Marcador de posición de fecha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pie de página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número de diapositiva 5"/>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endParaRPr lang="es-ES" smtClean="0"/>
          </a:p>
        </p:txBody>
      </p:sp>
      <p:sp>
        <p:nvSpPr>
          <p:cNvPr id="4" name="Marcador de posición de fecha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pie de página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número de diapositiva 5"/>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contenido"/>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5" name="Marcador de posición de fecha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pie de página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Marcador de posición de número de diapositiva 6"/>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endParaRPr lang="es-ES" smtClean="0"/>
          </a:p>
        </p:txBody>
      </p:sp>
      <p:sp>
        <p:nvSpPr>
          <p:cNvPr id="4" name="3 Marcador de contenido"/>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5" name="4 Marcador de texto"/>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endParaRPr lang="es-ES" smtClean="0"/>
          </a:p>
        </p:txBody>
      </p:sp>
      <p:sp>
        <p:nvSpPr>
          <p:cNvPr id="6" name="5 Marcador de contenido"/>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7" name="Marcador de posición de fecha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Marcador de posición de pie de página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Marcador de posición de número de diapositiva 8"/>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Marcador de posición de fecha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Marcador de posición de pie de página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número de diapositiva 4"/>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posición de fecha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Marcador de posición de pie de página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Marcador de posición de número de diapositiva 3"/>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texto"/>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endParaRPr lang="es-ES" smtClean="0"/>
          </a:p>
        </p:txBody>
      </p:sp>
      <p:sp>
        <p:nvSpPr>
          <p:cNvPr id="5" name="Marcador de posición de fecha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pie de página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Marcador de posición de número de diapositiva 6"/>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s-AR" sz="3200" b="0" i="0" u="none" strike="noStrike" kern="1200" cap="none" spc="0" normalizeH="0" baseline="0" noProof="0">
              <a:ln>
                <a:noFill/>
              </a:ln>
              <a:solidFill>
                <a:schemeClr val="tx1"/>
              </a:solidFill>
              <a:effectLst/>
              <a:uLnTx/>
              <a:uFillTx/>
              <a:latin typeface="+mn-lt"/>
              <a:ea typeface="+mn-ea"/>
              <a:cs typeface="+mn-cs"/>
            </a:endParaRPr>
          </a:p>
        </p:txBody>
      </p:sp>
      <p:sp>
        <p:nvSpPr>
          <p:cNvPr id="4" name="3 Marcador de texto"/>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endParaRPr lang="es-ES" smtClean="0"/>
          </a:p>
        </p:txBody>
      </p:sp>
      <p:sp>
        <p:nvSpPr>
          <p:cNvPr id="5" name="Marcador de posición de fecha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pie de página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Marcador de posición de número de diapositiva 6"/>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hasCustomPrompt="1"/>
          </p:nvPr>
        </p:nvSpPr>
        <p:spPr/>
        <p:txBody>
          <a:bodyPr vert="eaVert"/>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Marcador de posición de fecha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pie de página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número de diapositiva 5"/>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hasCustomPrompt="1"/>
          </p:nvPr>
        </p:nvSpPr>
        <p:spPr>
          <a:xfrm>
            <a:off x="457200" y="274638"/>
            <a:ext cx="6019800" cy="5851525"/>
          </a:xfrm>
        </p:spPr>
        <p:txBody>
          <a:bodyPr vert="eaVert"/>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Marcador de posición de fecha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pie de página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número de diapositiva 5"/>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p>
            <a:r>
              <a:rPr lang="es-ES" smtClean="0"/>
              <a:t>Haga clic para modificar el estilo de título del patrón</a:t>
            </a:r>
            <a:endParaRPr lang="es-AR"/>
          </a:p>
        </p:txBody>
      </p:sp>
      <p:sp>
        <p:nvSpPr>
          <p:cNvPr id="3" name="2 Marcador de tabla"/>
          <p:cNvSpPr>
            <a:spLocks noGrp="1"/>
          </p:cNvSpPr>
          <p:nvPr>
            <p:ph type="tbl" idx="1"/>
          </p:nvPr>
        </p:nvSpPr>
        <p:spPr>
          <a:xfrm>
            <a:off x="4572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s-AR" sz="3200" b="0" i="0" u="none" strike="noStrike" kern="1200" cap="none" spc="0" normalizeH="0" baseline="0" noProof="0">
              <a:ln>
                <a:noFill/>
              </a:ln>
              <a:solidFill>
                <a:schemeClr val="tx1"/>
              </a:solidFill>
              <a:effectLst/>
              <a:uLnTx/>
              <a:uFillTx/>
              <a:latin typeface="+mn-lt"/>
              <a:ea typeface="+mn-ea"/>
              <a:cs typeface="+mn-cs"/>
            </a:endParaRPr>
          </a:p>
        </p:txBody>
      </p:sp>
      <p:sp>
        <p:nvSpPr>
          <p:cNvPr id="4" name="Marcador de posición de fecha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Marcador de posición de pie de página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Marcador de posición de número de diapositiva 5"/>
          <p:cNvSpPr>
            <a:spLocks noGrp="1"/>
          </p:cNvSpPr>
          <p:nvPr>
            <p:ph type="sldNum" sz="quarter" idx="12"/>
          </p:nvPr>
        </p:nvSpPr>
        <p:spPr/>
        <p:txBody>
          <a:bodyPr/>
          <a:p>
            <a:pPr lvl="0" eaLnBrk="1" hangingPunct="1">
              <a:buNone/>
            </a:pPr>
            <a:fld id="{9A0DB2DC-4C9A-4742-B13C-FB6460FD3503}" type="slidenum">
              <a:rPr lang="es-AR" dirty="0"/>
            </a:fld>
            <a:endParaRPr lang="es-AR"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1026" name="1 Marcador de título"/>
          <p:cNvSpPr>
            <a:spLocks noGrp="1"/>
          </p:cNvSpPr>
          <p:nvPr>
            <p:ph type="title"/>
          </p:nvPr>
        </p:nvSpPr>
        <p:spPr>
          <a:xfrm>
            <a:off x="457200" y="274638"/>
            <a:ext cx="8229600" cy="1143000"/>
          </a:xfrm>
          <a:prstGeom prst="rect">
            <a:avLst/>
          </a:prstGeom>
          <a:noFill/>
          <a:ln w="9525">
            <a:noFill/>
          </a:ln>
        </p:spPr>
        <p:txBody>
          <a:bodyPr anchor="ctr" anchorCtr="0"/>
          <a:p>
            <a:pPr lvl="0"/>
            <a:r>
              <a:rPr lang="es-ES" altLang="x-none" dirty="0"/>
              <a:t>Haga clic para modificar el estilo de título del patrón</a:t>
            </a:r>
            <a:endParaRPr dirty="0"/>
          </a:p>
        </p:txBody>
      </p:sp>
      <p:sp>
        <p:nvSpPr>
          <p:cNvPr id="1027" name="2 Marcador de texto"/>
          <p:cNvSpPr>
            <a:spLocks noGrp="1"/>
          </p:cNvSpPr>
          <p:nvPr>
            <p:ph type="body" idx="1"/>
          </p:nvPr>
        </p:nvSpPr>
        <p:spPr>
          <a:xfrm>
            <a:off x="457200" y="1600200"/>
            <a:ext cx="8229600" cy="4525963"/>
          </a:xfrm>
          <a:prstGeom prst="rect">
            <a:avLst/>
          </a:prstGeom>
          <a:noFill/>
          <a:ln w="9525">
            <a:noFill/>
          </a:ln>
        </p:spPr>
        <p:txBody>
          <a:bodyPr/>
          <a:p>
            <a:pPr lvl="0"/>
            <a:r>
              <a:rPr lang="es-ES" altLang="x-none" dirty="0"/>
              <a:t>Haga clic para modificar el estilo de texto del patrón</a:t>
            </a:r>
            <a:endParaRPr lang="es-ES" altLang="x-none" dirty="0"/>
          </a:p>
          <a:p>
            <a:pPr lvl="1"/>
            <a:r>
              <a:rPr lang="es-ES" altLang="x-none" dirty="0"/>
              <a:t>Segundo nivel</a:t>
            </a:r>
            <a:endParaRPr lang="es-ES" altLang="x-none" dirty="0"/>
          </a:p>
          <a:p>
            <a:pPr lvl="2"/>
            <a:r>
              <a:rPr lang="es-ES" altLang="x-none" dirty="0"/>
              <a:t>Tercer nivel</a:t>
            </a:r>
            <a:endParaRPr lang="es-ES" altLang="x-none" dirty="0"/>
          </a:p>
          <a:p>
            <a:pPr lvl="3"/>
            <a:r>
              <a:rPr lang="es-ES" altLang="x-none" dirty="0"/>
              <a:t>Cuarto nivel</a:t>
            </a:r>
            <a:endParaRPr lang="es-ES" altLang="x-none" dirty="0"/>
          </a:p>
          <a:p>
            <a:pPr lvl="4"/>
            <a:r>
              <a:rPr lang="es-ES" altLang="x-none" dirty="0"/>
              <a:t>Quinto nivel</a:t>
            </a:r>
            <a:endParaRPr dirty="0"/>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B6C39DA-6715-46C4-98CF-D63564893FDA}" type="datetimeFigureOut">
              <a:rPr kumimoji="0" lang="es-AR"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AR"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latin typeface="Calibri" panose="020F0502020204030204" pitchFamily="34" charset="0"/>
              </a:defRPr>
            </a:lvl1pPr>
          </a:lstStyle>
          <a:p>
            <a:pPr lvl="0" eaLnBrk="1" hangingPunct="1">
              <a:buNone/>
            </a:pPr>
            <a:fld id="{9A0DB2DC-4C9A-4742-B13C-FB6460FD3503}" type="slidenum">
              <a:rPr lang="es-AR" dirty="0"/>
            </a:fld>
            <a:endParaRPr lang="es-AR"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lacnic.net/web/lacnic/inicio" TargetMode="External"/><Relationship Id="rId2" Type="http://schemas.openxmlformats.org/officeDocument/2006/relationships/hyperlink" Target="http://www.apnic.net/" TargetMode="External"/><Relationship Id="rId1" Type="http://schemas.openxmlformats.org/officeDocument/2006/relationships/hyperlink" Target="https://www.arin.net/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1 Título"/>
          <p:cNvSpPr>
            <a:spLocks noGrp="1"/>
          </p:cNvSpPr>
          <p:nvPr>
            <p:ph type="ctrTitle"/>
          </p:nvPr>
        </p:nvSpPr>
        <p:spPr>
          <a:xfrm>
            <a:off x="684213" y="260350"/>
            <a:ext cx="7772400" cy="865188"/>
          </a:xfrm>
          <a:ln/>
        </p:spPr>
        <p:txBody>
          <a:bodyPr vert="horz" wrap="square" lIns="91440" tIns="45720" rIns="91440" bIns="45720" anchor="ctr" anchorCtr="0"/>
          <a:p>
            <a:pPr eaLnBrk="1" hangingPunct="1">
              <a:buClrTx/>
              <a:buSzTx/>
              <a:buFontTx/>
            </a:pPr>
            <a:r>
              <a:rPr dirty="0"/>
              <a:t>ASIGNACIÓN DIRECCIONES IP</a:t>
            </a:r>
            <a:endParaRPr dirty="0"/>
          </a:p>
        </p:txBody>
      </p:sp>
      <p:sp>
        <p:nvSpPr>
          <p:cNvPr id="2051" name="2 Subtítulo"/>
          <p:cNvSpPr>
            <a:spLocks noGrp="1"/>
          </p:cNvSpPr>
          <p:nvPr>
            <p:ph type="subTitle" idx="1" hasCustomPrompt="1"/>
          </p:nvPr>
        </p:nvSpPr>
        <p:spPr>
          <a:xfrm>
            <a:off x="539750" y="1341438"/>
            <a:ext cx="7777163" cy="4895850"/>
          </a:xfrm>
          <a:ln/>
        </p:spPr>
        <p:txBody>
          <a:bodyPr vert="horz" wrap="square" lIns="91440" tIns="45720" rIns="91440" bIns="45720" anchor="t" anchorCtr="0"/>
          <a:p>
            <a:pPr eaLnBrk="1" hangingPunct="1">
              <a:lnSpc>
                <a:spcPct val="80000"/>
              </a:lnSpc>
              <a:buClrTx/>
              <a:buSzTx/>
            </a:pPr>
            <a:r>
              <a:rPr lang="es-ES" altLang="x-none" sz="2800" kern="1200" dirty="0">
                <a:solidFill>
                  <a:schemeClr val="tx1"/>
                </a:solidFill>
                <a:latin typeface="+mn-lt"/>
                <a:ea typeface="+mn-ea"/>
                <a:cs typeface="+mn-cs"/>
              </a:rPr>
              <a:t>ICANN (Corporación de Internet para la Asignación de Nombres y Números)  es una organización sin fines de lucro creada en 1998, con el objeto de encargarse de cierto número de tareas. </a:t>
            </a:r>
            <a:endParaRPr lang="es-ES" altLang="x-none" sz="2800" kern="1200" dirty="0">
              <a:solidFill>
                <a:schemeClr val="tx1"/>
              </a:solidFill>
              <a:latin typeface="+mn-lt"/>
              <a:ea typeface="+mn-ea"/>
              <a:cs typeface="+mn-cs"/>
            </a:endParaRPr>
          </a:p>
          <a:p>
            <a:pPr eaLnBrk="1" hangingPunct="1">
              <a:lnSpc>
                <a:spcPct val="80000"/>
              </a:lnSpc>
              <a:buClrTx/>
              <a:buSzTx/>
            </a:pPr>
            <a:endParaRPr lang="es-ES" altLang="x-none" sz="2800" kern="1200" dirty="0">
              <a:solidFill>
                <a:schemeClr val="tx1"/>
              </a:solidFill>
              <a:latin typeface="+mn-lt"/>
              <a:ea typeface="+mn-ea"/>
              <a:cs typeface="+mn-cs"/>
            </a:endParaRPr>
          </a:p>
          <a:p>
            <a:pPr eaLnBrk="1" hangingPunct="1">
              <a:lnSpc>
                <a:spcPct val="80000"/>
              </a:lnSpc>
              <a:buClrTx/>
              <a:buSzTx/>
            </a:pPr>
            <a:r>
              <a:rPr lang="es-ES" altLang="x-none" sz="2800" kern="1200" dirty="0">
                <a:solidFill>
                  <a:schemeClr val="tx1"/>
                </a:solidFill>
                <a:latin typeface="+mn-lt"/>
                <a:ea typeface="+mn-ea"/>
                <a:cs typeface="+mn-cs"/>
              </a:rPr>
              <a:t>Anteriormente a esa fecha, lo hacía la organización IANA (Autoridad para Asignar Números en Internet). Actualmente es un departamento operado por  ICANN</a:t>
            </a:r>
            <a:endParaRPr sz="2800" kern="1200" dirty="0">
              <a:solidFill>
                <a:srgbClr val="898989"/>
              </a:solidFill>
              <a:latin typeface="+mn-lt"/>
              <a:ea typeface="+mn-ea"/>
              <a:cs typeface="+mn-cs"/>
            </a:endParaRPr>
          </a:p>
          <a:p>
            <a:pPr algn="l" eaLnBrk="1" hangingPunct="1">
              <a:lnSpc>
                <a:spcPct val="80000"/>
              </a:lnSpc>
              <a:buClrTx/>
              <a:buSzTx/>
            </a:pPr>
            <a:endParaRPr sz="2400" kern="1200" dirty="0">
              <a:solidFill>
                <a:srgbClr val="898989"/>
              </a:solidFill>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title"/>
          </p:nvPr>
        </p:nvSpPr>
        <p:spPr>
          <a:ln/>
        </p:spPr>
        <p:txBody>
          <a:bodyPr vert="horz" wrap="square" lIns="91440" tIns="45720" rIns="91440" bIns="45720" anchor="ctr" anchorCtr="0"/>
          <a:p>
            <a:r>
              <a:rPr dirty="0"/>
              <a:t>ASIGNACIÓN DIRECCIONES IP</a:t>
            </a:r>
            <a:endParaRPr lang="es-ES" altLang="x-none" dirty="0"/>
          </a:p>
        </p:txBody>
      </p:sp>
      <p:sp>
        <p:nvSpPr>
          <p:cNvPr id="3075" name="Rectangle 3"/>
          <p:cNvSpPr>
            <a:spLocks noGrp="1"/>
          </p:cNvSpPr>
          <p:nvPr>
            <p:ph idx="1" hasCustomPrompt="1"/>
          </p:nvPr>
        </p:nvSpPr>
        <p:spPr>
          <a:ln/>
        </p:spPr>
        <p:txBody>
          <a:bodyPr vert="horz" wrap="square" lIns="91440" tIns="45720" rIns="91440" bIns="45720" anchor="t" anchorCtr="0"/>
          <a:p>
            <a:r>
              <a:rPr lang="es-ES" altLang="x-none" sz="2800" dirty="0"/>
              <a:t>Un </a:t>
            </a:r>
            <a:r>
              <a:rPr lang="es-ES" altLang="x-none" sz="2800" b="1" dirty="0"/>
              <a:t>Registro Regional de Internet</a:t>
            </a:r>
            <a:r>
              <a:rPr lang="es-ES" altLang="x-none" sz="2800" dirty="0"/>
              <a:t> o </a:t>
            </a:r>
            <a:r>
              <a:rPr lang="es-ES" altLang="x-none" sz="2800" b="1" dirty="0"/>
              <a:t>Regional Internet Registry</a:t>
            </a:r>
            <a:r>
              <a:rPr lang="es-ES" altLang="x-none" sz="2800" dirty="0"/>
              <a:t> (</a:t>
            </a:r>
            <a:r>
              <a:rPr lang="es-ES" altLang="x-none" sz="2800" b="1" dirty="0"/>
              <a:t>RIR</a:t>
            </a:r>
            <a:r>
              <a:rPr lang="es-ES" altLang="x-none" sz="2800" dirty="0"/>
              <a:t>) es una organización que supervisa la asignación y el registro de recursos de números de Internet dentro de una región particular del mundo. Los recursos incluyen direcciones IP (tanto IPv4 como IPv6) y números de sistemas autónomos (para su uso en encaminamiento BGP). </a:t>
            </a:r>
            <a:endParaRPr lang="es-ES" altLang="x-none"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ln/>
        </p:spPr>
        <p:txBody>
          <a:bodyPr vert="horz" wrap="square" lIns="91440" tIns="45720" rIns="91440" bIns="45720" anchor="ctr" anchorCtr="0"/>
          <a:p>
            <a:r>
              <a:rPr lang="es-ES_tradnl" altLang="x-none" dirty="0"/>
              <a:t>DISTINTOS RIR’s</a:t>
            </a:r>
            <a:endParaRPr lang="es-ES" altLang="x-none" dirty="0"/>
          </a:p>
        </p:txBody>
      </p:sp>
      <p:sp>
        <p:nvSpPr>
          <p:cNvPr id="4099" name="Rectangle 3"/>
          <p:cNvSpPr>
            <a:spLocks noGrp="1"/>
          </p:cNvSpPr>
          <p:nvPr>
            <p:ph idx="1" hasCustomPrompt="1"/>
          </p:nvPr>
        </p:nvSpPr>
        <p:spPr>
          <a:xfrm>
            <a:off x="457200" y="1268413"/>
            <a:ext cx="8229600" cy="5329237"/>
          </a:xfrm>
          <a:ln/>
        </p:spPr>
        <p:txBody>
          <a:bodyPr vert="horz" wrap="square" lIns="91440" tIns="45720" rIns="91440" bIns="45720" anchor="t" anchorCtr="0"/>
          <a:p>
            <a:pPr eaLnBrk="1" hangingPunct="1">
              <a:lnSpc>
                <a:spcPct val="80000"/>
              </a:lnSpc>
            </a:pPr>
            <a:r>
              <a:rPr sz="2800" dirty="0">
                <a:solidFill>
                  <a:srgbClr val="898989"/>
                </a:solidFill>
              </a:rPr>
              <a:t>RIPE NCC: Europa, Oriente medio y Asia Central (</a:t>
            </a:r>
            <a:r>
              <a:rPr sz="2800" dirty="0"/>
              <a:t>https://www.ripe.net</a:t>
            </a:r>
            <a:r>
              <a:rPr sz="2800" dirty="0">
                <a:solidFill>
                  <a:srgbClr val="898989"/>
                </a:solidFill>
              </a:rPr>
              <a:t>). </a:t>
            </a:r>
            <a:endParaRPr sz="2800" dirty="0">
              <a:solidFill>
                <a:srgbClr val="898989"/>
              </a:solidFill>
            </a:endParaRPr>
          </a:p>
          <a:p>
            <a:pPr eaLnBrk="1" hangingPunct="1">
              <a:lnSpc>
                <a:spcPct val="80000"/>
              </a:lnSpc>
              <a:buNone/>
            </a:pPr>
            <a:endParaRPr sz="2800" dirty="0">
              <a:solidFill>
                <a:srgbClr val="898989"/>
              </a:solidFill>
            </a:endParaRPr>
          </a:p>
          <a:p>
            <a:pPr eaLnBrk="1" hangingPunct="1">
              <a:lnSpc>
                <a:spcPct val="80000"/>
              </a:lnSpc>
            </a:pPr>
            <a:r>
              <a:rPr sz="2800" dirty="0">
                <a:solidFill>
                  <a:srgbClr val="898989"/>
                </a:solidFill>
              </a:rPr>
              <a:t>ARIN: América anglosajona (</a:t>
            </a:r>
            <a:r>
              <a:rPr sz="2800" dirty="0">
                <a:hlinkClick r:id="rId1"/>
              </a:rPr>
              <a:t>https://www.arin.net/index.html</a:t>
            </a:r>
            <a:r>
              <a:rPr sz="2800" dirty="0">
                <a:solidFill>
                  <a:srgbClr val="898989"/>
                </a:solidFill>
              </a:rPr>
              <a:t>).</a:t>
            </a:r>
            <a:endParaRPr sz="2800" dirty="0">
              <a:solidFill>
                <a:srgbClr val="898989"/>
              </a:solidFill>
            </a:endParaRPr>
          </a:p>
          <a:p>
            <a:pPr eaLnBrk="1" hangingPunct="1">
              <a:lnSpc>
                <a:spcPct val="80000"/>
              </a:lnSpc>
            </a:pPr>
            <a:endParaRPr sz="2800" dirty="0">
              <a:solidFill>
                <a:srgbClr val="898989"/>
              </a:solidFill>
            </a:endParaRPr>
          </a:p>
          <a:p>
            <a:pPr eaLnBrk="1" hangingPunct="1">
              <a:lnSpc>
                <a:spcPct val="80000"/>
              </a:lnSpc>
            </a:pPr>
            <a:r>
              <a:rPr sz="2800" dirty="0">
                <a:solidFill>
                  <a:srgbClr val="898989"/>
                </a:solidFill>
              </a:rPr>
              <a:t>APNIC: ASIA y la Región Pacífica (</a:t>
            </a:r>
            <a:r>
              <a:rPr sz="2800" dirty="0">
                <a:solidFill>
                  <a:srgbClr val="898989"/>
                </a:solidFill>
                <a:hlinkClick r:id="rId2"/>
              </a:rPr>
              <a:t>http://www.apnic.net</a:t>
            </a:r>
            <a:r>
              <a:rPr sz="2800" dirty="0">
                <a:solidFill>
                  <a:srgbClr val="898989"/>
                </a:solidFill>
              </a:rPr>
              <a:t>).</a:t>
            </a:r>
            <a:endParaRPr sz="2800" dirty="0">
              <a:solidFill>
                <a:srgbClr val="898989"/>
              </a:solidFill>
            </a:endParaRPr>
          </a:p>
          <a:p>
            <a:pPr eaLnBrk="1" hangingPunct="1">
              <a:lnSpc>
                <a:spcPct val="80000"/>
              </a:lnSpc>
            </a:pPr>
            <a:endParaRPr sz="2800" dirty="0">
              <a:solidFill>
                <a:srgbClr val="898989"/>
              </a:solidFill>
            </a:endParaRPr>
          </a:p>
          <a:p>
            <a:pPr eaLnBrk="1" hangingPunct="1">
              <a:lnSpc>
                <a:spcPct val="80000"/>
              </a:lnSpc>
            </a:pPr>
            <a:r>
              <a:rPr sz="2800" dirty="0">
                <a:solidFill>
                  <a:srgbClr val="898989"/>
                </a:solidFill>
              </a:rPr>
              <a:t>LACNIC: América Latina y el (</a:t>
            </a:r>
            <a:r>
              <a:rPr sz="2800" dirty="0">
                <a:hlinkClick r:id="rId3"/>
              </a:rPr>
              <a:t>http://www.lacnic.net/web/lacnic/inicio</a:t>
            </a:r>
            <a:r>
              <a:rPr sz="2800" dirty="0">
                <a:solidFill>
                  <a:srgbClr val="898989"/>
                </a:solidFill>
              </a:rPr>
              <a:t>).</a:t>
            </a:r>
            <a:endParaRPr sz="2800" dirty="0">
              <a:solidFill>
                <a:srgbClr val="898989"/>
              </a:solidFill>
            </a:endParaRPr>
          </a:p>
          <a:p>
            <a:pPr eaLnBrk="1" hangingPunct="1">
              <a:lnSpc>
                <a:spcPct val="80000"/>
              </a:lnSpc>
              <a:buNone/>
            </a:pPr>
            <a:endParaRPr sz="2800" dirty="0">
              <a:solidFill>
                <a:srgbClr val="898989"/>
              </a:solidFill>
            </a:endParaRPr>
          </a:p>
          <a:p>
            <a:pPr eaLnBrk="1" hangingPunct="1">
              <a:lnSpc>
                <a:spcPct val="80000"/>
              </a:lnSpc>
            </a:pPr>
            <a:r>
              <a:rPr lang="es-ES_tradnl" altLang="x-none" sz="2800" dirty="0">
                <a:solidFill>
                  <a:srgbClr val="898989"/>
                </a:solidFill>
              </a:rPr>
              <a:t>AfriNIC para África (</a:t>
            </a:r>
            <a:r>
              <a:rPr lang="es-ES" altLang="x-none" sz="2800" dirty="0"/>
              <a:t>http://www.afrinic.net/)</a:t>
            </a:r>
            <a:endParaRPr lang="es-ES" altLang="x-none"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1 Título"/>
          <p:cNvSpPr>
            <a:spLocks noGrp="1"/>
          </p:cNvSpPr>
          <p:nvPr>
            <p:ph type="title"/>
          </p:nvPr>
        </p:nvSpPr>
        <p:spPr>
          <a:ln/>
        </p:spPr>
        <p:txBody>
          <a:bodyPr vert="horz" wrap="square" lIns="91440" tIns="45720" rIns="91440" bIns="45720" anchor="ctr" anchorCtr="0"/>
          <a:p>
            <a:pPr eaLnBrk="1" hangingPunct="1"/>
            <a:r>
              <a:rPr dirty="0"/>
              <a:t>NOTACIÓN DIRECCIÓN IP</a:t>
            </a:r>
            <a:endParaRPr dirty="0"/>
          </a:p>
        </p:txBody>
      </p:sp>
      <p:sp>
        <p:nvSpPr>
          <p:cNvPr id="5123" name="2 Marcador de contenido"/>
          <p:cNvSpPr>
            <a:spLocks noGrp="1"/>
          </p:cNvSpPr>
          <p:nvPr>
            <p:ph idx="1" hasCustomPrompt="1"/>
          </p:nvPr>
        </p:nvSpPr>
        <p:spPr>
          <a:xfrm>
            <a:off x="457200" y="1268413"/>
            <a:ext cx="8229600" cy="4857750"/>
          </a:xfrm>
          <a:ln/>
        </p:spPr>
        <p:txBody>
          <a:bodyPr vert="horz" wrap="square" lIns="91440" tIns="45720" rIns="91440" bIns="45720" anchor="t" anchorCtr="0"/>
          <a:p>
            <a:pPr eaLnBrk="1" hangingPunct="1">
              <a:lnSpc>
                <a:spcPct val="90000"/>
              </a:lnSpc>
            </a:pPr>
            <a:r>
              <a:rPr sz="2800" dirty="0"/>
              <a:t>Cada dirección IP consta de 32 bits agrupados en grupos de 8 bits (8 bits son un octeto o un byte)  </a:t>
            </a:r>
            <a:endParaRPr sz="2800" dirty="0"/>
          </a:p>
          <a:p>
            <a:pPr eaLnBrk="1" hangingPunct="1">
              <a:lnSpc>
                <a:spcPct val="90000"/>
              </a:lnSpc>
            </a:pPr>
            <a:endParaRPr sz="2800" dirty="0"/>
          </a:p>
          <a:p>
            <a:pPr eaLnBrk="1" hangingPunct="1">
              <a:lnSpc>
                <a:spcPct val="90000"/>
              </a:lnSpc>
            </a:pPr>
            <a:r>
              <a:rPr sz="2800" dirty="0"/>
              <a:t>La notación que se utiliza para expresar una dirección IP se conoce como notación por puntos: Consiste en expresar los 4 octetos de la dirección en formato decimal separados por puntos. </a:t>
            </a:r>
            <a:endParaRPr sz="2800" dirty="0"/>
          </a:p>
          <a:p>
            <a:pPr eaLnBrk="1" hangingPunct="1">
              <a:lnSpc>
                <a:spcPct val="90000"/>
              </a:lnSpc>
            </a:pPr>
            <a:endParaRPr sz="2800" dirty="0"/>
          </a:p>
          <a:p>
            <a:pPr eaLnBrk="1" hangingPunct="1">
              <a:lnSpc>
                <a:spcPct val="90000"/>
              </a:lnSpc>
            </a:pPr>
            <a:r>
              <a:rPr sz="2800" dirty="0"/>
              <a:t> Cada uno de estos números varia entre 0 y 255, por ejemplo 147.83.34.25</a:t>
            </a:r>
            <a:endParaRPr sz="2800" dirty="0"/>
          </a:p>
          <a:p>
            <a:pPr eaLnBrk="1" hangingPunct="1">
              <a:lnSpc>
                <a:spcPct val="90000"/>
              </a:lnSpc>
              <a:buNone/>
            </a:pPr>
            <a:r>
              <a:rPr sz="2800" dirty="0"/>
              <a:t>    10010011. 01010011. 0100010. 00011001</a:t>
            </a:r>
            <a:endParaRPr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1 Título"/>
          <p:cNvSpPr>
            <a:spLocks noGrp="1"/>
          </p:cNvSpPr>
          <p:nvPr>
            <p:ph type="title"/>
          </p:nvPr>
        </p:nvSpPr>
        <p:spPr>
          <a:ln/>
        </p:spPr>
        <p:txBody>
          <a:bodyPr vert="horz" wrap="square" lIns="91440" tIns="45720" rIns="91440" bIns="45720" anchor="ctr" anchorCtr="0"/>
          <a:p>
            <a:pPr eaLnBrk="1" hangingPunct="1"/>
            <a:r>
              <a:rPr dirty="0"/>
              <a:t>NOTACIÓN DIRECCIÓN IP</a:t>
            </a:r>
            <a:endParaRPr dirty="0"/>
          </a:p>
        </p:txBody>
      </p:sp>
      <p:sp>
        <p:nvSpPr>
          <p:cNvPr id="6147" name="2 Marcador de contenido"/>
          <p:cNvSpPr>
            <a:spLocks noGrp="1"/>
          </p:cNvSpPr>
          <p:nvPr>
            <p:ph idx="1" hasCustomPrompt="1"/>
          </p:nvPr>
        </p:nvSpPr>
        <p:spPr>
          <a:xfrm>
            <a:off x="457200" y="1268413"/>
            <a:ext cx="8229600" cy="4857750"/>
          </a:xfrm>
          <a:ln/>
        </p:spPr>
        <p:txBody>
          <a:bodyPr vert="horz" wrap="square" lIns="91440" tIns="45720" rIns="91440" bIns="45720" anchor="t" anchorCtr="0"/>
          <a:p>
            <a:pPr eaLnBrk="1" hangingPunct="1">
              <a:lnSpc>
                <a:spcPct val="90000"/>
              </a:lnSpc>
            </a:pPr>
            <a:r>
              <a:rPr sz="2800" dirty="0"/>
              <a:t>Como IP es un protocolo pensado para la interconexión de subredes, toda dirección IP contiene dos identificadores</a:t>
            </a:r>
            <a:endParaRPr sz="2800" dirty="0"/>
          </a:p>
          <a:p>
            <a:pPr eaLnBrk="1" hangingPunct="1">
              <a:lnSpc>
                <a:spcPct val="90000"/>
              </a:lnSpc>
            </a:pPr>
            <a:r>
              <a:rPr sz="2800" dirty="0"/>
              <a:t>NetID: Porción de la dirección IP que identifica la red o subred a la que pertenece </a:t>
            </a:r>
            <a:endParaRPr sz="2800" dirty="0"/>
          </a:p>
          <a:p>
            <a:pPr eaLnBrk="1" hangingPunct="1">
              <a:lnSpc>
                <a:spcPct val="90000"/>
              </a:lnSpc>
            </a:pPr>
            <a:r>
              <a:rPr sz="2800" dirty="0"/>
              <a:t>HostID: Identifica una máquina dentro la red/Subred </a:t>
            </a:r>
            <a:endParaRPr sz="2800" dirty="0"/>
          </a:p>
          <a:p>
            <a:pPr eaLnBrk="1" hangingPunct="1">
              <a:lnSpc>
                <a:spcPct val="90000"/>
              </a:lnSpc>
            </a:pPr>
            <a:r>
              <a:rPr sz="2800" dirty="0"/>
              <a:t>Atendiendo a los primeros bits de cada dirección se averigua el tipo de subred de que se trata. Los bits restantes codifican el host dentro de esa subred.</a:t>
            </a:r>
            <a:endParaRPr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1 Título"/>
          <p:cNvSpPr>
            <a:spLocks noGrp="1"/>
          </p:cNvSpPr>
          <p:nvPr>
            <p:ph type="title"/>
          </p:nvPr>
        </p:nvSpPr>
        <p:spPr>
          <a:ln/>
        </p:spPr>
        <p:txBody>
          <a:bodyPr vert="horz" wrap="square" lIns="91440" tIns="45720" rIns="91440" bIns="45720" anchor="ctr" anchorCtr="0"/>
          <a:p>
            <a:pPr eaLnBrk="1" hangingPunct="1"/>
            <a:r>
              <a:rPr dirty="0"/>
              <a:t>CLASES DIRECCIONES IP</a:t>
            </a:r>
            <a:endParaRPr dirty="0"/>
          </a:p>
        </p:txBody>
      </p:sp>
      <p:pic>
        <p:nvPicPr>
          <p:cNvPr id="7171" name="Picture 2"/>
          <p:cNvPicPr>
            <a:picLocks noGrp="1" noChangeAspect="1"/>
          </p:cNvPicPr>
          <p:nvPr>
            <p:ph idx="1" hasCustomPrompt="1"/>
          </p:nvPr>
        </p:nvPicPr>
        <p:blipFill>
          <a:blip r:embed="rId1"/>
          <a:srcRect/>
          <a:stretch>
            <a:fillRect/>
          </a:stretch>
        </p:blipFill>
        <p:spPr>
          <a:xfrm>
            <a:off x="827088" y="1196975"/>
            <a:ext cx="7416800" cy="5256213"/>
          </a:xfr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1 Título"/>
          <p:cNvSpPr>
            <a:spLocks noGrp="1"/>
          </p:cNvSpPr>
          <p:nvPr>
            <p:ph type="title"/>
          </p:nvPr>
        </p:nvSpPr>
        <p:spPr>
          <a:ln/>
        </p:spPr>
        <p:txBody>
          <a:bodyPr vert="horz" wrap="square" lIns="91440" tIns="45720" rIns="91440" bIns="45720" anchor="ctr" anchorCtr="0"/>
          <a:p>
            <a:pPr eaLnBrk="1" hangingPunct="1"/>
            <a:r>
              <a:rPr dirty="0"/>
              <a:t>DIRECCIONES CLASE A</a:t>
            </a:r>
            <a:endParaRPr dirty="0"/>
          </a:p>
        </p:txBody>
      </p:sp>
      <p:pic>
        <p:nvPicPr>
          <p:cNvPr id="8195" name="Picture 3"/>
          <p:cNvPicPr>
            <a:picLocks noGrp="1" noChangeAspect="1"/>
          </p:cNvPicPr>
          <p:nvPr>
            <p:ph idx="1" hasCustomPrompt="1"/>
          </p:nvPr>
        </p:nvPicPr>
        <p:blipFill>
          <a:blip r:embed="rId1"/>
          <a:srcRect/>
          <a:stretch>
            <a:fillRect/>
          </a:stretch>
        </p:blipFill>
        <p:spPr>
          <a:xfrm>
            <a:off x="684213" y="1341438"/>
            <a:ext cx="7559675" cy="5111750"/>
          </a:xfr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1 Título"/>
          <p:cNvSpPr>
            <a:spLocks noGrp="1"/>
          </p:cNvSpPr>
          <p:nvPr>
            <p:ph type="title"/>
          </p:nvPr>
        </p:nvSpPr>
        <p:spPr>
          <a:ln/>
        </p:spPr>
        <p:txBody>
          <a:bodyPr vert="horz" wrap="square" lIns="91440" tIns="45720" rIns="91440" bIns="45720" anchor="ctr" anchorCtr="0"/>
          <a:p>
            <a:pPr eaLnBrk="1" hangingPunct="1"/>
            <a:r>
              <a:rPr dirty="0"/>
              <a:t>DIRECCIONES CLASE B</a:t>
            </a:r>
            <a:endParaRPr dirty="0"/>
          </a:p>
        </p:txBody>
      </p:sp>
      <p:pic>
        <p:nvPicPr>
          <p:cNvPr id="9219" name="Picture 2"/>
          <p:cNvPicPr>
            <a:picLocks noGrp="1" noChangeAspect="1"/>
          </p:cNvPicPr>
          <p:nvPr>
            <p:ph idx="1" hasCustomPrompt="1"/>
          </p:nvPr>
        </p:nvPicPr>
        <p:blipFill>
          <a:blip r:embed="rId1"/>
          <a:srcRect/>
          <a:stretch>
            <a:fillRect/>
          </a:stretch>
        </p:blipFill>
        <p:spPr>
          <a:xfrm>
            <a:off x="539750" y="1484313"/>
            <a:ext cx="8064500" cy="4897437"/>
          </a:xfr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1 Título"/>
          <p:cNvSpPr>
            <a:spLocks noGrp="1"/>
          </p:cNvSpPr>
          <p:nvPr>
            <p:ph type="title"/>
          </p:nvPr>
        </p:nvSpPr>
        <p:spPr>
          <a:ln/>
        </p:spPr>
        <p:txBody>
          <a:bodyPr vert="horz" wrap="square" lIns="91440" tIns="45720" rIns="91440" bIns="45720" anchor="ctr" anchorCtr="0"/>
          <a:p>
            <a:pPr eaLnBrk="1" hangingPunct="1"/>
            <a:r>
              <a:rPr dirty="0"/>
              <a:t>DIRECCIONES CLASE C </a:t>
            </a:r>
            <a:endParaRPr dirty="0"/>
          </a:p>
        </p:txBody>
      </p:sp>
      <p:pic>
        <p:nvPicPr>
          <p:cNvPr id="10243" name="Picture 2"/>
          <p:cNvPicPr>
            <a:picLocks noGrp="1" noChangeAspect="1"/>
          </p:cNvPicPr>
          <p:nvPr>
            <p:ph idx="1" hasCustomPrompt="1"/>
          </p:nvPr>
        </p:nvPicPr>
        <p:blipFill>
          <a:blip r:embed="rId1"/>
          <a:srcRect/>
          <a:stretch>
            <a:fillRect/>
          </a:stretch>
        </p:blipFill>
        <p:spPr>
          <a:xfrm>
            <a:off x="611188" y="1628775"/>
            <a:ext cx="7993062" cy="4679950"/>
          </a:xfr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1 Título"/>
          <p:cNvSpPr>
            <a:spLocks noGrp="1"/>
          </p:cNvSpPr>
          <p:nvPr>
            <p:ph type="title"/>
          </p:nvPr>
        </p:nvSpPr>
        <p:spPr>
          <a:ln/>
        </p:spPr>
        <p:txBody>
          <a:bodyPr vert="horz" wrap="square" lIns="91440" tIns="45720" rIns="91440" bIns="45720" anchor="ctr" anchorCtr="0"/>
          <a:p>
            <a:pPr eaLnBrk="1" hangingPunct="1"/>
            <a:r>
              <a:rPr dirty="0"/>
              <a:t>DIRECCIONES CLASE D y E </a:t>
            </a:r>
            <a:endParaRPr dirty="0"/>
          </a:p>
        </p:txBody>
      </p:sp>
      <p:sp>
        <p:nvSpPr>
          <p:cNvPr id="11267" name="2 Marcador de contenido"/>
          <p:cNvSpPr>
            <a:spLocks noGrp="1"/>
          </p:cNvSpPr>
          <p:nvPr>
            <p:ph idx="1" hasCustomPrompt="1"/>
          </p:nvPr>
        </p:nvSpPr>
        <p:spPr>
          <a:ln/>
        </p:spPr>
        <p:txBody>
          <a:bodyPr vert="horz" wrap="square" lIns="91440" tIns="45720" rIns="91440" bIns="45720" anchor="t" anchorCtr="0"/>
          <a:p>
            <a:pPr eaLnBrk="1" hangingPunct="1"/>
            <a:r>
              <a:rPr sz="2800" dirty="0"/>
              <a:t>Clase D (Multicast): Las direcciones que comienzan por la secuencia 1110.  Van de 224.0.0.0 a 239.255.255.255 </a:t>
            </a:r>
            <a:endParaRPr sz="2800" dirty="0"/>
          </a:p>
          <a:p>
            <a:pPr eaLnBrk="1" hangingPunct="1"/>
            <a:endParaRPr sz="2800" dirty="0"/>
          </a:p>
          <a:p>
            <a:pPr eaLnBrk="1" hangingPunct="1"/>
            <a:r>
              <a:rPr sz="2800" dirty="0"/>
              <a:t>Clase E (Usos futuros): Las direcciones que comienzan por 1111.  Van de 240.0.0.0 a 255.255.255.255</a:t>
            </a:r>
            <a:endParaRPr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1 Título"/>
          <p:cNvSpPr>
            <a:spLocks noGrp="1"/>
          </p:cNvSpPr>
          <p:nvPr>
            <p:ph type="title"/>
          </p:nvPr>
        </p:nvSpPr>
        <p:spPr>
          <a:ln/>
        </p:spPr>
        <p:txBody>
          <a:bodyPr vert="horz" wrap="square" lIns="91440" tIns="45720" rIns="91440" bIns="45720" anchor="ctr" anchorCtr="0"/>
          <a:p>
            <a:pPr eaLnBrk="1" hangingPunct="1"/>
            <a:r>
              <a:rPr dirty="0"/>
              <a:t>ASIGNACIÓN DIRECCIONES IP</a:t>
            </a:r>
            <a:endParaRPr dirty="0"/>
          </a:p>
        </p:txBody>
      </p:sp>
      <p:sp>
        <p:nvSpPr>
          <p:cNvPr id="12291" name="2 Marcador de contenido"/>
          <p:cNvSpPr>
            <a:spLocks noGrp="1"/>
          </p:cNvSpPr>
          <p:nvPr>
            <p:ph idx="1" hasCustomPrompt="1"/>
          </p:nvPr>
        </p:nvSpPr>
        <p:spPr>
          <a:ln/>
        </p:spPr>
        <p:txBody>
          <a:bodyPr vert="horz" wrap="square" lIns="91440" tIns="45720" rIns="91440" bIns="45720" anchor="t" anchorCtr="0"/>
          <a:p>
            <a:pPr eaLnBrk="1" hangingPunct="1">
              <a:lnSpc>
                <a:spcPct val="80000"/>
              </a:lnSpc>
              <a:buNone/>
            </a:pPr>
            <a:r>
              <a:rPr sz="3000" dirty="0"/>
              <a:t>    </a:t>
            </a:r>
            <a:r>
              <a:rPr sz="2800" dirty="0"/>
              <a:t>La asignación de las direcciones se hace teniendo en cuenta que:  </a:t>
            </a:r>
            <a:endParaRPr sz="2800" dirty="0"/>
          </a:p>
          <a:p>
            <a:pPr eaLnBrk="1" hangingPunct="1">
              <a:lnSpc>
                <a:spcPct val="80000"/>
              </a:lnSpc>
              <a:buNone/>
            </a:pPr>
            <a:endParaRPr sz="2800" dirty="0"/>
          </a:p>
          <a:p>
            <a:pPr eaLnBrk="1" hangingPunct="1">
              <a:lnSpc>
                <a:spcPct val="80000"/>
              </a:lnSpc>
            </a:pPr>
            <a:r>
              <a:rPr sz="2800" dirty="0"/>
              <a:t>Una dirección identifica una interfaz. </a:t>
            </a:r>
            <a:endParaRPr sz="2800" dirty="0"/>
          </a:p>
          <a:p>
            <a:pPr eaLnBrk="1" hangingPunct="1">
              <a:lnSpc>
                <a:spcPct val="80000"/>
              </a:lnSpc>
            </a:pPr>
            <a:endParaRPr sz="2800" dirty="0"/>
          </a:p>
          <a:p>
            <a:pPr eaLnBrk="1" hangingPunct="1">
              <a:lnSpc>
                <a:spcPct val="80000"/>
              </a:lnSpc>
            </a:pPr>
            <a:r>
              <a:rPr sz="2800" dirty="0"/>
              <a:t>El router ha de tener asignada una dirección IP por cada interfaz de entrada/salida.</a:t>
            </a:r>
            <a:endParaRPr sz="2800" dirty="0"/>
          </a:p>
          <a:p>
            <a:pPr eaLnBrk="1" hangingPunct="1">
              <a:lnSpc>
                <a:spcPct val="80000"/>
              </a:lnSpc>
              <a:buNone/>
            </a:pPr>
            <a:endParaRPr sz="2800" dirty="0"/>
          </a:p>
          <a:p>
            <a:pPr eaLnBrk="1" hangingPunct="1">
              <a:lnSpc>
                <a:spcPct val="80000"/>
              </a:lnSpc>
            </a:pPr>
            <a:r>
              <a:rPr sz="2800" dirty="0"/>
              <a:t>El NetID de cada dirección asignada a una interfaz debe tener el NetID de la red donde esta conectada.</a:t>
            </a:r>
            <a:endParaRPr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91440" tIns="45720" rIns="91440" bIns="45720" anchor="ctr" anchorCtr="0"/>
          <a:p>
            <a:pPr eaLnBrk="1" hangingPunct="1"/>
            <a:r>
              <a:rPr lang="es-ES" altLang="x-none" dirty="0"/>
              <a:t>DIRECCIONES PRIVADAS </a:t>
            </a:r>
            <a:endParaRPr lang="es-ES" altLang="x-none" dirty="0"/>
          </a:p>
        </p:txBody>
      </p:sp>
      <p:sp>
        <p:nvSpPr>
          <p:cNvPr id="13315" name="Rectangle 3"/>
          <p:cNvSpPr>
            <a:spLocks noGrp="1"/>
          </p:cNvSpPr>
          <p:nvPr>
            <p:ph idx="1" hasCustomPrompt="1"/>
          </p:nvPr>
        </p:nvSpPr>
        <p:spPr>
          <a:ln/>
        </p:spPr>
        <p:txBody>
          <a:bodyPr vert="horz" wrap="square" lIns="91440" tIns="45720" rIns="91440" bIns="45720" anchor="t" anchorCtr="0"/>
          <a:p>
            <a:pPr eaLnBrk="1" hangingPunct="1"/>
            <a:r>
              <a:rPr lang="es-ES" altLang="x-none" sz="2800" dirty="0"/>
              <a:t>Clase A: 10.0.0.0 a 10.255.255.255 </a:t>
            </a:r>
            <a:endParaRPr lang="es-ES" altLang="x-none" sz="2800" dirty="0"/>
          </a:p>
          <a:p>
            <a:pPr eaLnBrk="1" hangingPunct="1"/>
            <a:r>
              <a:rPr lang="es-ES" altLang="x-none" sz="2800" dirty="0"/>
              <a:t>Clase B: 172.16.0.0 a 172.31.255.255 . 16 redes clase B contiguas, uso en universidades y grandes compañías.</a:t>
            </a:r>
            <a:endParaRPr lang="es-ES" altLang="x-none" sz="2800" dirty="0"/>
          </a:p>
          <a:p>
            <a:pPr eaLnBrk="1" hangingPunct="1"/>
            <a:r>
              <a:rPr lang="es-ES" altLang="x-none" sz="2800" dirty="0"/>
              <a:t>Clase C: 192.168.0.0 a 192.168.255.255. 256 redes clase C continuas, uso de compañías medias y pequeñas además de pequeños proveedores de internet (ISP).</a:t>
            </a:r>
            <a:endParaRPr lang="es-ES" altLang="x-none" sz="2800" dirty="0"/>
          </a:p>
          <a:p>
            <a:pPr eaLnBrk="1" hangingPunct="1"/>
            <a:endParaRPr lang="es-ES" altLang="x-none"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ln/>
        </p:spPr>
        <p:txBody>
          <a:bodyPr vert="horz" wrap="square" lIns="91440" tIns="45720" rIns="91440" bIns="45720" anchor="ctr" anchorCtr="0"/>
          <a:p>
            <a:pPr eaLnBrk="1" hangingPunct="1"/>
            <a:r>
              <a:rPr lang="es-ES" altLang="x-none" dirty="0"/>
              <a:t>CONCEPTO DE MÁSCARA </a:t>
            </a:r>
            <a:endParaRPr lang="es-ES" altLang="x-none" dirty="0"/>
          </a:p>
        </p:txBody>
      </p:sp>
      <p:sp>
        <p:nvSpPr>
          <p:cNvPr id="14339" name="Rectangle 3"/>
          <p:cNvSpPr>
            <a:spLocks noGrp="1"/>
          </p:cNvSpPr>
          <p:nvPr>
            <p:ph idx="1" hasCustomPrompt="1"/>
          </p:nvPr>
        </p:nvSpPr>
        <p:spPr>
          <a:ln/>
        </p:spPr>
        <p:txBody>
          <a:bodyPr vert="horz" wrap="square" lIns="91440" tIns="45720" rIns="91440" bIns="45720" anchor="t" anchorCtr="0"/>
          <a:p>
            <a:pPr eaLnBrk="1" hangingPunct="1"/>
            <a:r>
              <a:rPr lang="es-ES" altLang="x-none" sz="2800" dirty="0"/>
              <a:t>La máscara de subred/red permite distinguir dentro de la dirección IP, los bits que identifican a la red y los bits que identifican al host </a:t>
            </a:r>
            <a:endParaRPr lang="es-ES" altLang="x-none" sz="2800" dirty="0"/>
          </a:p>
          <a:p>
            <a:pPr eaLnBrk="1" hangingPunct="1"/>
            <a:r>
              <a:rPr lang="es-ES" altLang="x-none" sz="2800" dirty="0"/>
              <a:t>La máscara se forma poniendo en 1 los bits que identifican la red y en 0 los bits que identifican al host. De esta forma una dirección de clase A tendrá una máscara por defecto de 255.0.0.0, una de clase B 255.255.0.0 y una de clase C 255.255.255.0</a:t>
            </a:r>
            <a:endParaRPr lang="es-ES" altLang="x-none"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ln/>
        </p:spPr>
        <p:txBody>
          <a:bodyPr vert="horz" wrap="square" lIns="91440" tIns="45720" rIns="91440" bIns="45720" anchor="ctr" anchorCtr="0"/>
          <a:p>
            <a:pPr eaLnBrk="1" hangingPunct="1"/>
            <a:r>
              <a:rPr lang="es-ES" altLang="x-none" dirty="0"/>
              <a:t>CONCEPTO DE MÁSCARA</a:t>
            </a:r>
            <a:endParaRPr lang="es-ES" altLang="x-none" dirty="0"/>
          </a:p>
        </p:txBody>
      </p:sp>
      <p:sp>
        <p:nvSpPr>
          <p:cNvPr id="15363" name="Rectangle 3"/>
          <p:cNvSpPr>
            <a:spLocks noGrp="1"/>
          </p:cNvSpPr>
          <p:nvPr>
            <p:ph idx="1" hasCustomPrompt="1"/>
          </p:nvPr>
        </p:nvSpPr>
        <p:spPr>
          <a:ln/>
        </p:spPr>
        <p:txBody>
          <a:bodyPr vert="horz" wrap="square" lIns="91440" tIns="45720" rIns="91440" bIns="45720" anchor="t" anchorCtr="0"/>
          <a:p>
            <a:pPr eaLnBrk="1" hangingPunct="1"/>
            <a:r>
              <a:rPr lang="es-ES" altLang="x-none" sz="2800" dirty="0"/>
              <a:t>Dirección IP: 196.5.4.44</a:t>
            </a:r>
            <a:endParaRPr lang="es-ES" altLang="x-none" sz="2800" dirty="0"/>
          </a:p>
          <a:p>
            <a:pPr eaLnBrk="1" hangingPunct="1"/>
            <a:r>
              <a:rPr lang="es-ES" altLang="x-none" sz="2800" dirty="0"/>
              <a:t>Máscara de subred (por defecto): 255.255.255.0</a:t>
            </a:r>
            <a:endParaRPr lang="es-ES" altLang="x-none" sz="2800" dirty="0"/>
          </a:p>
          <a:p>
            <a:pPr eaLnBrk="1" hangingPunct="1"/>
            <a:r>
              <a:rPr lang="es-ES" altLang="x-none" sz="2800" dirty="0"/>
              <a:t>AND (en binario):</a:t>
            </a:r>
            <a:endParaRPr lang="es-ES" altLang="x-none" sz="2800" dirty="0"/>
          </a:p>
          <a:p>
            <a:pPr eaLnBrk="1" hangingPunct="1"/>
            <a:r>
              <a:rPr lang="es-ES" altLang="x-none" sz="2800" dirty="0"/>
              <a:t>11000100.00000101.00000100.00101100 (196.5.4.44) Dirección IP</a:t>
            </a:r>
            <a:endParaRPr lang="es-ES" altLang="x-none" sz="2800" dirty="0"/>
          </a:p>
          <a:p>
            <a:pPr eaLnBrk="1" hangingPunct="1"/>
            <a:r>
              <a:rPr lang="es-ES" altLang="x-none" sz="2800" dirty="0"/>
              <a:t>11111111.11111111.11111111.00000000 (255.255.255.0) Máscara de subred</a:t>
            </a:r>
            <a:endParaRPr lang="es-ES" altLang="x-none" sz="2800" dirty="0"/>
          </a:p>
          <a:p>
            <a:pPr eaLnBrk="1" hangingPunct="1"/>
            <a:r>
              <a:rPr lang="es-ES" altLang="x-none" sz="2800" dirty="0"/>
              <a:t>11000100.00000101.00000100.00000000 (196.5.4.0) Resultado del AND</a:t>
            </a:r>
            <a:endParaRPr lang="es-ES" altLang="x-none"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ln/>
        </p:spPr>
        <p:txBody>
          <a:bodyPr vert="horz" wrap="square" lIns="91440" tIns="45720" rIns="91440" bIns="45720" anchor="ctr" anchorCtr="0"/>
          <a:p>
            <a:pPr eaLnBrk="1" hangingPunct="1"/>
            <a:r>
              <a:rPr lang="es-ES" altLang="x-none" dirty="0"/>
              <a:t>DIRECCIONES ESPECIALES </a:t>
            </a:r>
            <a:endParaRPr lang="es-ES" altLang="x-none" dirty="0"/>
          </a:p>
        </p:txBody>
      </p:sp>
      <p:sp>
        <p:nvSpPr>
          <p:cNvPr id="16387" name="Rectangle 3"/>
          <p:cNvSpPr>
            <a:spLocks noGrp="1"/>
          </p:cNvSpPr>
          <p:nvPr>
            <p:ph idx="1" hasCustomPrompt="1"/>
          </p:nvPr>
        </p:nvSpPr>
        <p:spPr>
          <a:ln/>
        </p:spPr>
        <p:txBody>
          <a:bodyPr vert="horz" wrap="square" lIns="91440" tIns="45720" rIns="91440" bIns="45720" anchor="t" anchorCtr="0"/>
          <a:p>
            <a:pPr eaLnBrk="1" hangingPunct="1"/>
            <a:r>
              <a:rPr dirty="0"/>
              <a:t> En las redes IP, la dirección de broadcast es 255.255.255.255. Pero Internet es una red de redes, no es práctico ni deseable que cualquier broadcast se propague por el mundo entero. Por tanto, un mensaje con dirección de destinatario 255.255.255.255 solamente se difunde en la red local (la red al cual pertenece la computadora o dispositivo emisor).</a:t>
            </a:r>
            <a:endParaRPr lang="es-ES" altLang="x-non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1 Título"/>
          <p:cNvSpPr>
            <a:spLocks noGrp="1"/>
          </p:cNvSpPr>
          <p:nvPr>
            <p:ph type="title"/>
          </p:nvPr>
        </p:nvSpPr>
        <p:spPr>
          <a:ln/>
        </p:spPr>
        <p:txBody>
          <a:bodyPr vert="horz" wrap="square" lIns="91440" tIns="45720" rIns="91440" bIns="45720" anchor="ctr" anchorCtr="0"/>
          <a:p>
            <a:pPr eaLnBrk="1" hangingPunct="1"/>
            <a:r>
              <a:rPr lang="es-ES" altLang="x-none" dirty="0"/>
              <a:t>DIRECCIONES ESPECIALES </a:t>
            </a:r>
            <a:endParaRPr dirty="0"/>
          </a:p>
        </p:txBody>
      </p:sp>
      <p:sp>
        <p:nvSpPr>
          <p:cNvPr id="17411" name="2 Marcador de contenido"/>
          <p:cNvSpPr>
            <a:spLocks noGrp="1"/>
          </p:cNvSpPr>
          <p:nvPr>
            <p:ph idx="1" hasCustomPrompt="1"/>
          </p:nvPr>
        </p:nvSpPr>
        <p:spPr>
          <a:ln/>
        </p:spPr>
        <p:txBody>
          <a:bodyPr vert="horz" wrap="square" lIns="91440" tIns="45720" rIns="91440" bIns="45720" anchor="t" anchorCtr="0"/>
          <a:p>
            <a:pPr eaLnBrk="1" hangingPunct="1"/>
            <a:r>
              <a:rPr dirty="0"/>
              <a:t>Para enviar un broadcast a una red no local, se utiliza el </a:t>
            </a:r>
            <a:r>
              <a:rPr b="1" dirty="0"/>
              <a:t>broadcast dirigido</a:t>
            </a:r>
            <a:r>
              <a:rPr dirty="0"/>
              <a:t>. Solamente tenemos que especificar la dirección de red y en la dirección de dispositivo la llenamos de 1 (binarios, por supuesto). Por ejemplo, si enviamos un mensaje con dirección 172.32.255.255, lo recibirán todos dispositivos de la red 172.32.0.0.</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1 Título"/>
          <p:cNvSpPr>
            <a:spLocks noGrp="1"/>
          </p:cNvSpPr>
          <p:nvPr>
            <p:ph type="title"/>
          </p:nvPr>
        </p:nvSpPr>
        <p:spPr>
          <a:xfrm>
            <a:off x="457200" y="274638"/>
            <a:ext cx="8229600" cy="993775"/>
          </a:xfrm>
          <a:ln/>
        </p:spPr>
        <p:txBody>
          <a:bodyPr vert="horz" wrap="square" lIns="91440" tIns="45720" rIns="91440" bIns="45720" anchor="ctr" anchorCtr="0"/>
          <a:p>
            <a:pPr eaLnBrk="1" hangingPunct="1"/>
            <a:r>
              <a:rPr lang="es-ES" altLang="x-none" dirty="0"/>
              <a:t>DIRECCIONES ESPECIALES</a:t>
            </a:r>
            <a:endParaRPr dirty="0"/>
          </a:p>
        </p:txBody>
      </p:sp>
      <p:sp>
        <p:nvSpPr>
          <p:cNvPr id="18435" name="2 Marcador de contenido"/>
          <p:cNvSpPr>
            <a:spLocks noGrp="1"/>
          </p:cNvSpPr>
          <p:nvPr>
            <p:ph idx="1" hasCustomPrompt="1"/>
          </p:nvPr>
        </p:nvSpPr>
        <p:spPr>
          <a:xfrm>
            <a:off x="457200" y="1268413"/>
            <a:ext cx="8229600" cy="4857750"/>
          </a:xfrm>
          <a:ln/>
        </p:spPr>
        <p:txBody>
          <a:bodyPr vert="horz" wrap="square" lIns="91440" tIns="45720" rIns="91440" bIns="45720" anchor="t" anchorCtr="0"/>
          <a:p>
            <a:pPr eaLnBrk="1" hangingPunct="1"/>
            <a:r>
              <a:rPr sz="2800" dirty="0"/>
              <a:t>La dirección 0.0.0.0 significa "este dispositivo" y se utiliza cuando se está iniciando el sistema y no se conoce todavía la dirección asignada al dispositivo. Se utiliza en ruteo por defecto</a:t>
            </a:r>
            <a:endParaRPr sz="2800" dirty="0"/>
          </a:p>
          <a:p>
            <a:pPr eaLnBrk="1" hangingPunct="1"/>
            <a:r>
              <a:rPr sz="2800" dirty="0"/>
              <a:t>La dirección 127.0.0.1, que también significa "este mismo dispositivo", sí se puede usar como dirección de destino y el efecto es que los mensajes que se le envíen "rebotan" y vuelven a ser recibidos por el mismo dispositivo. S</a:t>
            </a:r>
            <a:r>
              <a:rPr lang="es-ES" altLang="x-none" dirty="0"/>
              <a:t>e conoce como home, localhost o dirección de loopback. </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1 Título"/>
          <p:cNvSpPr>
            <a:spLocks noGrp="1"/>
          </p:cNvSpPr>
          <p:nvPr>
            <p:ph type="title"/>
          </p:nvPr>
        </p:nvSpPr>
        <p:spPr>
          <a:ln/>
        </p:spPr>
        <p:txBody>
          <a:bodyPr vert="horz" wrap="square" lIns="91440" tIns="45720" rIns="91440" bIns="45720" anchor="ctr" anchorCtr="0"/>
          <a:p>
            <a:pPr eaLnBrk="1" hangingPunct="1"/>
            <a:r>
              <a:rPr lang="es-ES" altLang="x-none" dirty="0"/>
              <a:t>DIRECCIONES ESPECIALES</a:t>
            </a:r>
            <a:endParaRPr dirty="0"/>
          </a:p>
        </p:txBody>
      </p:sp>
      <p:sp>
        <p:nvSpPr>
          <p:cNvPr id="19459" name="2 Marcador de contenido"/>
          <p:cNvSpPr>
            <a:spLocks noGrp="1"/>
          </p:cNvSpPr>
          <p:nvPr>
            <p:ph idx="1" hasCustomPrompt="1"/>
          </p:nvPr>
        </p:nvSpPr>
        <p:spPr>
          <a:xfrm>
            <a:off x="539750" y="1341120"/>
            <a:ext cx="8229600" cy="4525963"/>
          </a:xfrm>
          <a:ln/>
        </p:spPr>
        <p:txBody>
          <a:bodyPr vert="horz" wrap="square" lIns="91440" tIns="45720" rIns="91440" bIns="45720" anchor="t" anchorCtr="0"/>
          <a:p>
            <a:pPr eaLnBrk="1" hangingPunct="1"/>
            <a:r>
              <a:rPr dirty="0"/>
              <a:t>Realmente todas las direcciones del rango 127.0.0.0 - 127.255.255.255 se comportan de la misma manera, pero en la práctica se usa solamente 127.0.0.1.</a:t>
            </a:r>
            <a:endParaRPr dirty="0"/>
          </a:p>
          <a:p>
            <a:pPr eaLnBrk="1" hangingPunct="1"/>
            <a:r>
              <a:rPr lang="es-AR" altLang="en-US" dirty="0"/>
              <a:t>Si la</a:t>
            </a:r>
            <a:r>
              <a:rPr lang="en-US" altLang="es-ES" dirty="0"/>
              <a:t> computadora arranca</a:t>
            </a:r>
            <a:r>
              <a:rPr lang="es-AR" altLang="en-US" dirty="0"/>
              <a:t> e i</a:t>
            </a:r>
            <a:r>
              <a:rPr lang="en-US" altLang="es-ES" dirty="0"/>
              <a:t>ntenta obtener una IP de un servidor DHCP (por ejemplo el router)</a:t>
            </a:r>
            <a:r>
              <a:rPr lang="es-AR" altLang="en-US" dirty="0"/>
              <a:t> y </a:t>
            </a:r>
            <a:r>
              <a:rPr lang="en-US" altLang="es-ES" dirty="0"/>
              <a:t>no hay respuesta, el sistema operativo se asigna autom</a:t>
            </a:r>
            <a:r>
              <a:rPr lang="en-US" altLang="en-US" dirty="0"/>
              <a:t>á</a:t>
            </a:r>
            <a:r>
              <a:rPr lang="en-US" altLang="es-ES" dirty="0"/>
              <a:t>ticamente una direcci</a:t>
            </a:r>
            <a:r>
              <a:rPr lang="en-US" altLang="en-US" dirty="0"/>
              <a:t>ó</a:t>
            </a:r>
            <a:r>
              <a:rPr lang="en-US" altLang="es-ES" dirty="0"/>
              <a:t>n del rango 169.254.0.0 – 169.254.255.255.</a:t>
            </a:r>
            <a:endParaRPr lang="en-US" altLang="es-E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a:xfrm>
            <a:off x="457200" y="59055"/>
            <a:ext cx="8229600" cy="1129665"/>
          </a:xfrm>
        </p:spPr>
        <p:txBody>
          <a:bodyPr/>
          <a:p>
            <a:r>
              <a:rPr lang="es-ES" altLang="x-none" dirty="0">
                <a:sym typeface="+mn-ea"/>
              </a:rPr>
              <a:t>DIRECCIONES ESPECIALES</a:t>
            </a:r>
            <a:endParaRPr lang="es-ES" altLang="en-US"/>
          </a:p>
        </p:txBody>
      </p:sp>
      <p:sp>
        <p:nvSpPr>
          <p:cNvPr id="3" name="Marcador de posición de contenido 2"/>
          <p:cNvSpPr>
            <a:spLocks noGrp="1"/>
          </p:cNvSpPr>
          <p:nvPr>
            <p:ph idx="1"/>
          </p:nvPr>
        </p:nvSpPr>
        <p:spPr>
          <a:xfrm>
            <a:off x="457200" y="1287780"/>
            <a:ext cx="8229600" cy="4838700"/>
          </a:xfrm>
        </p:spPr>
        <p:txBody>
          <a:bodyPr/>
          <a:p>
            <a:r>
              <a:rPr lang="en-US" altLang="es-ES" dirty="0"/>
              <a:t>Normalmente indica un problema de red, por ejemplo:</a:t>
            </a:r>
            <a:endParaRPr lang="en-US" altLang="es-ES" dirty="0"/>
          </a:p>
          <a:p>
            <a:r>
              <a:rPr lang="en-US" altLang="es-ES" dirty="0"/>
              <a:t>El DHCP del router no funciona</a:t>
            </a:r>
            <a:endParaRPr lang="en-US" altLang="es-ES" dirty="0"/>
          </a:p>
          <a:p>
            <a:r>
              <a:rPr lang="en-US" altLang="es-ES" dirty="0"/>
              <a:t>El cable de red est</a:t>
            </a:r>
            <a:r>
              <a:rPr lang="en-US" altLang="en-US" dirty="0"/>
              <a:t>á</a:t>
            </a:r>
            <a:r>
              <a:rPr lang="en-US" altLang="es-ES" dirty="0"/>
              <a:t> desconectado</a:t>
            </a:r>
            <a:endParaRPr lang="en-US" altLang="es-ES" dirty="0"/>
          </a:p>
          <a:p>
            <a:r>
              <a:rPr lang="en-US" altLang="es-ES" dirty="0"/>
              <a:t>No hay conexi</a:t>
            </a:r>
            <a:r>
              <a:rPr lang="en-US" altLang="en-US" dirty="0"/>
              <a:t>ó</a:t>
            </a:r>
            <a:r>
              <a:rPr lang="en-US" altLang="es-ES" dirty="0"/>
              <a:t>n Wi-Fi</a:t>
            </a:r>
            <a:endParaRPr lang="en-US" altLang="es-ES" dirty="0"/>
          </a:p>
          <a:p>
            <a:r>
              <a:rPr lang="en-US" altLang="es-ES" dirty="0"/>
              <a:t>El servidor DHCP est</a:t>
            </a:r>
            <a:r>
              <a:rPr lang="en-US" altLang="en-US" dirty="0"/>
              <a:t>á</a:t>
            </a:r>
            <a:r>
              <a:rPr lang="en-US" altLang="es-ES" dirty="0"/>
              <a:t> ca</a:t>
            </a:r>
            <a:r>
              <a:rPr lang="en-US" altLang="en-US" dirty="0"/>
              <a:t>í</a:t>
            </a:r>
            <a:r>
              <a:rPr lang="en-US" altLang="es-ES" dirty="0"/>
              <a:t>do</a:t>
            </a:r>
            <a:endParaRPr lang="en-US" altLang="es-E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ln/>
        </p:spPr>
        <p:txBody>
          <a:bodyPr vert="horz" wrap="square" lIns="91440" tIns="45720" rIns="91440" bIns="45720" anchor="ctr" anchorCtr="0"/>
          <a:p>
            <a:r>
              <a:rPr lang="es-ES_tradnl" altLang="x-none" dirty="0"/>
              <a:t>SEGMENTO DE RED</a:t>
            </a:r>
            <a:endParaRPr lang="es-ES" altLang="x-none" dirty="0"/>
          </a:p>
        </p:txBody>
      </p:sp>
      <p:sp>
        <p:nvSpPr>
          <p:cNvPr id="20483" name="Rectangle 3"/>
          <p:cNvSpPr>
            <a:spLocks noGrp="1"/>
          </p:cNvSpPr>
          <p:nvPr>
            <p:ph idx="1" hasCustomPrompt="1"/>
          </p:nvPr>
        </p:nvSpPr>
        <p:spPr>
          <a:ln/>
        </p:spPr>
        <p:txBody>
          <a:bodyPr vert="horz" wrap="square" lIns="91440" tIns="45720" rIns="91440" bIns="45720" anchor="t" anchorCtr="0"/>
          <a:p>
            <a:r>
              <a:rPr lang="es-ES_tradnl" altLang="x-none" sz="2800" dirty="0"/>
              <a:t>Un segmento de red, está constituido por interfaces, cuyas configuraciones de IP’s, pertenecen a una misma Red/Subred. Dentro de ellos puede haber dominio de Broadcast y/o de colisión</a:t>
            </a:r>
            <a:endParaRPr lang="es-ES_tradnl" altLang="x-none" sz="2800" dirty="0"/>
          </a:p>
          <a:p>
            <a:r>
              <a:rPr lang="es-ES_tradnl" altLang="x-none" sz="2800" dirty="0"/>
              <a:t>Los router´s ó encaminadores, limitan los segmentos de red</a:t>
            </a:r>
            <a:endParaRPr lang="es-ES" altLang="x-none"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ítulo 1"/>
          <p:cNvSpPr>
            <a:spLocks noGrp="1"/>
          </p:cNvSpPr>
          <p:nvPr>
            <p:ph type="title"/>
          </p:nvPr>
        </p:nvSpPr>
        <p:spPr/>
        <p:txBody>
          <a:bodyPr/>
          <a:p>
            <a:r>
              <a:rPr lang="es-ES" altLang="x-none" dirty="0">
                <a:sym typeface="+mn-ea"/>
              </a:rPr>
              <a:t>DIRECCIONES ESPECIALES</a:t>
            </a:r>
            <a:endParaRPr lang="es-ES" altLang="en-US"/>
          </a:p>
        </p:txBody>
      </p:sp>
      <p:sp>
        <p:nvSpPr>
          <p:cNvPr id="3" name="Marcador de posición de contenido 2"/>
          <p:cNvSpPr>
            <a:spLocks noGrp="1"/>
          </p:cNvSpPr>
          <p:nvPr>
            <p:ph idx="1"/>
          </p:nvPr>
        </p:nvSpPr>
        <p:spPr/>
        <p:txBody>
          <a:bodyPr/>
          <a:p>
            <a:r>
              <a:rPr lang="en-US" altLang="es-ES"/>
              <a:t>Ejemplo simple</a:t>
            </a:r>
            <a:endParaRPr lang="en-US" altLang="es-ES"/>
          </a:p>
          <a:p>
            <a:r>
              <a:rPr lang="en-US" altLang="es-ES"/>
              <a:t>Si conect</a:t>
            </a:r>
            <a:r>
              <a:rPr lang="en-US" altLang="en-US"/>
              <a:t>á</a:t>
            </a:r>
            <a:r>
              <a:rPr lang="en-US" altLang="es-ES"/>
              <a:t>s dos computadoras con un cable </a:t>
            </a:r>
            <a:r>
              <a:rPr lang="es-AR" altLang="en-US"/>
              <a:t>cruzado </a:t>
            </a:r>
            <a:r>
              <a:rPr lang="en-US" altLang="es-ES"/>
              <a:t>y no hay router ni DHCP:</a:t>
            </a:r>
            <a:endParaRPr lang="en-US" altLang="es-ES"/>
          </a:p>
          <a:p>
            <a:r>
              <a:rPr lang="en-US" altLang="es-ES"/>
              <a:t>PC1 </a:t>
            </a:r>
            <a:r>
              <a:rPr lang="en-US" altLang="en-US"/>
              <a:t>→</a:t>
            </a:r>
            <a:r>
              <a:rPr lang="en-US" altLang="es-ES"/>
              <a:t> 169.254.10.5</a:t>
            </a:r>
            <a:endParaRPr lang="en-US" altLang="es-ES"/>
          </a:p>
          <a:p>
            <a:r>
              <a:rPr lang="en-US" altLang="es-ES"/>
              <a:t>PC2 </a:t>
            </a:r>
            <a:r>
              <a:rPr lang="en-US" altLang="en-US"/>
              <a:t>→</a:t>
            </a:r>
            <a:r>
              <a:rPr lang="en-US" altLang="es-ES"/>
              <a:t> 169.254.200.8</a:t>
            </a:r>
            <a:endParaRPr lang="en-US" altLang="es-ES"/>
          </a:p>
          <a:p>
            <a:r>
              <a:rPr lang="en-US" altLang="es-ES"/>
              <a:t>Podr</a:t>
            </a:r>
            <a:r>
              <a:rPr lang="en-US" altLang="en-US"/>
              <a:t>í</a:t>
            </a:r>
            <a:r>
              <a:rPr lang="en-US" altLang="es-ES"/>
              <a:t>an comunicarse entre ellas, pero no tendr</a:t>
            </a:r>
            <a:r>
              <a:rPr lang="en-US" altLang="en-US"/>
              <a:t>í</a:t>
            </a:r>
            <a:r>
              <a:rPr lang="en-US" altLang="es-ES"/>
              <a:t>an Internet</a:t>
            </a:r>
            <a:endParaRPr lang="en-US" altLang="es-E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457200" y="274638"/>
            <a:ext cx="8229600" cy="777875"/>
          </a:xfrm>
          <a:ln/>
        </p:spPr>
        <p:txBody>
          <a:bodyPr vert="horz" wrap="square" lIns="91440" tIns="45720" rIns="91440" bIns="45720" anchor="ctr" anchorCtr="0"/>
          <a:p>
            <a:r>
              <a:rPr lang="es-ES_tradnl" altLang="x-none" dirty="0"/>
              <a:t>EJEMPLO</a:t>
            </a:r>
            <a:endParaRPr lang="es-ES" altLang="x-none" dirty="0"/>
          </a:p>
        </p:txBody>
      </p:sp>
      <p:sp>
        <p:nvSpPr>
          <p:cNvPr id="41987" name="Rectangle 3"/>
          <p:cNvSpPr>
            <a:spLocks noGrp="1"/>
          </p:cNvSpPr>
          <p:nvPr>
            <p:ph idx="1" hasCustomPrompt="1"/>
          </p:nvPr>
        </p:nvSpPr>
        <p:spPr>
          <a:xfrm>
            <a:off x="457200" y="1268413"/>
            <a:ext cx="8229600" cy="4857750"/>
          </a:xfrm>
          <a:ln/>
        </p:spPr>
        <p:txBody>
          <a:bodyPr vert="horz" wrap="square" lIns="91440" tIns="45720" rIns="91440" bIns="45720" anchor="t" anchorCtr="0"/>
          <a:p>
            <a:pPr>
              <a:lnSpc>
                <a:spcPct val="80000"/>
              </a:lnSpc>
              <a:buNone/>
            </a:pPr>
            <a:r>
              <a:rPr lang="es-ES_tradnl" altLang="x-none" sz="1800" dirty="0"/>
              <a:t>Dado el nro de IP: 152.16.12.35</a:t>
            </a:r>
            <a:endParaRPr lang="es-ES_tradnl" altLang="x-none" sz="1800" dirty="0"/>
          </a:p>
          <a:p>
            <a:pPr>
              <a:lnSpc>
                <a:spcPct val="80000"/>
              </a:lnSpc>
              <a:buNone/>
            </a:pPr>
            <a:r>
              <a:rPr lang="es-ES_tradnl" altLang="x-none" sz="1800" dirty="0"/>
              <a:t>¿A qué clase de red pertenece y de que tipo, es?</a:t>
            </a:r>
            <a:endParaRPr lang="es-ES_tradnl" altLang="x-none" sz="1800" dirty="0"/>
          </a:p>
          <a:p>
            <a:pPr>
              <a:lnSpc>
                <a:spcPct val="80000"/>
              </a:lnSpc>
              <a:buNone/>
            </a:pPr>
            <a:r>
              <a:rPr lang="es-ES_tradnl" altLang="x-none" sz="1800" dirty="0"/>
              <a:t>Pasando a notación binaria, resulta:</a:t>
            </a:r>
            <a:endParaRPr lang="es-ES_tradnl" altLang="x-none" sz="1800" dirty="0"/>
          </a:p>
          <a:p>
            <a:pPr>
              <a:lnSpc>
                <a:spcPct val="80000"/>
              </a:lnSpc>
              <a:buNone/>
            </a:pPr>
            <a:r>
              <a:rPr lang="es-ES" altLang="x-none" sz="1800" dirty="0"/>
              <a:t>10011000. 00010000. 00001100. 00100011</a:t>
            </a:r>
            <a:endParaRPr lang="es-ES" altLang="x-none" sz="1800" dirty="0"/>
          </a:p>
          <a:p>
            <a:pPr>
              <a:lnSpc>
                <a:spcPct val="80000"/>
              </a:lnSpc>
              <a:buNone/>
            </a:pPr>
            <a:r>
              <a:rPr lang="es-ES_tradnl" altLang="x-none" sz="1800" dirty="0"/>
              <a:t>Pertenece a la red de clase “B”, pública. </a:t>
            </a:r>
            <a:endParaRPr lang="es-ES_tradnl" altLang="x-none" sz="1800" dirty="0"/>
          </a:p>
          <a:p>
            <a:pPr>
              <a:lnSpc>
                <a:spcPct val="80000"/>
              </a:lnSpc>
              <a:buNone/>
            </a:pPr>
            <a:r>
              <a:rPr lang="es-ES_tradnl" altLang="x-none" sz="1800" dirty="0"/>
              <a:t>Su Mask es: 255.255.0.0 </a:t>
            </a:r>
            <a:endParaRPr lang="es-ES_tradnl" altLang="x-none" sz="1800" dirty="0"/>
          </a:p>
          <a:p>
            <a:pPr>
              <a:lnSpc>
                <a:spcPct val="80000"/>
              </a:lnSpc>
              <a:buNone/>
            </a:pPr>
            <a:r>
              <a:rPr lang="es-ES_tradnl" altLang="x-none" sz="1800" dirty="0"/>
              <a:t>Pasando a binario, resulta</a:t>
            </a:r>
            <a:endParaRPr lang="es-ES_tradnl" altLang="x-none" sz="1800" dirty="0"/>
          </a:p>
          <a:p>
            <a:pPr>
              <a:lnSpc>
                <a:spcPct val="80000"/>
              </a:lnSpc>
              <a:buNone/>
            </a:pPr>
            <a:r>
              <a:rPr lang="es-ES_tradnl" altLang="x-none" sz="1800" dirty="0"/>
              <a:t>11111111.11111111.00000000.00000000</a:t>
            </a:r>
            <a:endParaRPr lang="es-ES_tradnl" altLang="x-none" sz="1800" dirty="0"/>
          </a:p>
          <a:p>
            <a:pPr>
              <a:lnSpc>
                <a:spcPct val="80000"/>
              </a:lnSpc>
              <a:buNone/>
            </a:pPr>
            <a:r>
              <a:rPr lang="es-ES_tradnl" altLang="x-none" sz="1800" dirty="0"/>
              <a:t>Realizando el producto lógico, se tiene:</a:t>
            </a:r>
            <a:endParaRPr lang="es-ES_tradnl" altLang="x-none" sz="1800" dirty="0"/>
          </a:p>
          <a:p>
            <a:pPr>
              <a:lnSpc>
                <a:spcPct val="80000"/>
              </a:lnSpc>
              <a:buNone/>
            </a:pPr>
            <a:r>
              <a:rPr lang="es-ES_tradnl" altLang="x-none" sz="1800" dirty="0"/>
              <a:t>Dirección de Red: </a:t>
            </a:r>
            <a:endParaRPr lang="es-ES_tradnl" altLang="x-none" sz="1800" dirty="0"/>
          </a:p>
          <a:p>
            <a:pPr>
              <a:lnSpc>
                <a:spcPct val="80000"/>
              </a:lnSpc>
              <a:buNone/>
            </a:pPr>
            <a:r>
              <a:rPr lang="es-ES_tradnl" altLang="x-none" sz="1800" dirty="0"/>
              <a:t>152.16.0.0</a:t>
            </a:r>
            <a:endParaRPr lang="es-ES_tradnl" altLang="x-none" sz="1800" dirty="0"/>
          </a:p>
          <a:p>
            <a:pPr>
              <a:lnSpc>
                <a:spcPct val="80000"/>
              </a:lnSpc>
              <a:buNone/>
            </a:pPr>
            <a:r>
              <a:rPr lang="es-ES_tradnl" altLang="x-none" sz="1800" dirty="0"/>
              <a:t>Dirección del 1er host:</a:t>
            </a:r>
            <a:endParaRPr lang="es-ES_tradnl" altLang="x-none" sz="1800" dirty="0"/>
          </a:p>
          <a:p>
            <a:pPr>
              <a:lnSpc>
                <a:spcPct val="80000"/>
              </a:lnSpc>
              <a:buNone/>
            </a:pPr>
            <a:r>
              <a:rPr lang="es-ES_tradnl" altLang="x-none" sz="1800" dirty="0"/>
              <a:t>152.16.0.1</a:t>
            </a:r>
            <a:endParaRPr lang="es-ES_tradnl" altLang="x-none" sz="1800" dirty="0"/>
          </a:p>
          <a:p>
            <a:pPr>
              <a:lnSpc>
                <a:spcPct val="80000"/>
              </a:lnSpc>
              <a:buNone/>
            </a:pPr>
            <a:r>
              <a:rPr lang="es-ES_tradnl" altLang="x-none" sz="1800" dirty="0"/>
              <a:t>Dirección del último Host:</a:t>
            </a:r>
            <a:endParaRPr lang="es-ES_tradnl" altLang="x-none" sz="1800" dirty="0"/>
          </a:p>
          <a:p>
            <a:pPr>
              <a:lnSpc>
                <a:spcPct val="80000"/>
              </a:lnSpc>
              <a:buNone/>
            </a:pPr>
            <a:r>
              <a:rPr lang="es-ES_tradnl" altLang="x-none" sz="1800" dirty="0"/>
              <a:t>152.16.255.254</a:t>
            </a:r>
            <a:endParaRPr lang="es-ES_tradnl" altLang="x-none" sz="1800" dirty="0"/>
          </a:p>
          <a:p>
            <a:pPr>
              <a:lnSpc>
                <a:spcPct val="80000"/>
              </a:lnSpc>
              <a:buNone/>
            </a:pPr>
            <a:r>
              <a:rPr lang="es-ES_tradnl" altLang="x-none" sz="1800" dirty="0"/>
              <a:t>Dirección de Broadcast: </a:t>
            </a:r>
            <a:endParaRPr lang="es-ES_tradnl" altLang="x-none" sz="1800" dirty="0"/>
          </a:p>
          <a:p>
            <a:pPr>
              <a:lnSpc>
                <a:spcPct val="80000"/>
              </a:lnSpc>
              <a:buNone/>
            </a:pPr>
            <a:r>
              <a:rPr lang="es-ES_tradnl" altLang="x-none" sz="1800" dirty="0"/>
              <a:t>152.16.255.255</a:t>
            </a:r>
            <a:endParaRPr lang="es-ES" altLang="x-none"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charRg st="0" end="3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charRg st="32" end="8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charRg st="81" end="11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7">
                                            <p:txEl>
                                              <p:charRg st="118" end="15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987">
                                            <p:txEl>
                                              <p:charRg st="157" end="20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987">
                                            <p:txEl>
                                              <p:charRg st="200" end="22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987">
                                            <p:txEl>
                                              <p:charRg st="225" end="25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987">
                                            <p:txEl>
                                              <p:charRg st="252" end="28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987">
                                            <p:txEl>
                                              <p:charRg st="288" end="32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987">
                                            <p:txEl>
                                              <p:charRg st="329" end="34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1987">
                                            <p:txEl>
                                              <p:charRg st="348" end="35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1987">
                                            <p:txEl>
                                              <p:charRg st="359" end="38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987">
                                            <p:txEl>
                                              <p:charRg st="383" end="39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1987">
                                            <p:txEl>
                                              <p:charRg st="394" end="42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1987">
                                            <p:txEl>
                                              <p:charRg st="421" end="43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1987">
                                            <p:txEl>
                                              <p:charRg st="436" end="46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1987">
                                            <p:txEl>
                                              <p:charRg st="461" end="47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ln/>
        </p:spPr>
        <p:txBody>
          <a:bodyPr vert="horz" wrap="square" lIns="91440" tIns="45720" rIns="91440" bIns="45720" anchor="ctr" anchorCtr="0"/>
          <a:p>
            <a:r>
              <a:rPr lang="es-ES_tradnl" altLang="x-none" sz="4000" dirty="0"/>
              <a:t>DETERMINAR LOS SEGMENTOS DE RED</a:t>
            </a:r>
            <a:endParaRPr lang="es-ES" altLang="x-none" sz="4000" dirty="0"/>
          </a:p>
        </p:txBody>
      </p:sp>
      <p:pic>
        <p:nvPicPr>
          <p:cNvPr id="21507" name="Picture 4"/>
          <p:cNvPicPr>
            <a:picLocks noChangeAspect="1"/>
          </p:cNvPicPr>
          <p:nvPr>
            <p:ph idx="1" hasCustomPrompt="1"/>
          </p:nvPr>
        </p:nvPicPr>
        <p:blipFill>
          <a:blip r:embed="rId1"/>
          <a:srcRect/>
          <a:stretch>
            <a:fillRect/>
          </a:stretch>
        </p:blipFill>
        <p:spPr>
          <a:ln>
            <a:solidFill>
              <a:schemeClr val="tx1">
                <a:alpha val="100000"/>
              </a:schemeClr>
            </a:solidFill>
            <a:miter/>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1 Título"/>
          <p:cNvSpPr>
            <a:spLocks noGrp="1"/>
          </p:cNvSpPr>
          <p:nvPr>
            <p:ph type="title"/>
          </p:nvPr>
        </p:nvSpPr>
        <p:spPr>
          <a:ln/>
        </p:spPr>
        <p:txBody>
          <a:bodyPr vert="horz" wrap="square" lIns="91440" tIns="45720" rIns="91440" bIns="45720" anchor="ctr" anchorCtr="0"/>
          <a:p>
            <a:pPr eaLnBrk="1" hangingPunct="1"/>
            <a:r>
              <a:rPr dirty="0"/>
              <a:t>INTRODUCCIÓN SUBNETTING</a:t>
            </a:r>
            <a:endParaRPr dirty="0"/>
          </a:p>
        </p:txBody>
      </p:sp>
      <p:sp>
        <p:nvSpPr>
          <p:cNvPr id="23555" name="2 Marcador de contenido"/>
          <p:cNvSpPr>
            <a:spLocks noGrp="1"/>
          </p:cNvSpPr>
          <p:nvPr>
            <p:ph idx="1" hasCustomPrompt="1"/>
          </p:nvPr>
        </p:nvSpPr>
        <p:spPr>
          <a:ln/>
        </p:spPr>
        <p:txBody>
          <a:bodyPr vert="horz" wrap="square" lIns="91440" tIns="45720" rIns="91440" bIns="45720" anchor="t" anchorCtr="0"/>
          <a:p>
            <a:pPr eaLnBrk="1" hangingPunct="1"/>
            <a:r>
              <a:rPr lang="es-ES" altLang="x-none" sz="2800" dirty="0"/>
              <a:t>La función del Subneteo o Subnetting es dividir una red IP física en subredes lógicas (redes más pequeñas) </a:t>
            </a:r>
            <a:endParaRPr lang="es-ES" altLang="x-none" sz="2800" dirty="0"/>
          </a:p>
          <a:p>
            <a:pPr eaLnBrk="1" hangingPunct="1"/>
            <a:r>
              <a:rPr lang="es-ES" altLang="x-none" sz="2800" dirty="0"/>
              <a:t>Cada una de estas trabaja como una red individual, aunque todas pertenezcan a la misma red física y al mismo dominio. </a:t>
            </a:r>
            <a:endParaRPr lang="es-ES" altLang="x-none" sz="2800" dirty="0"/>
          </a:p>
          <a:p>
            <a:pPr eaLnBrk="1" hangingPunct="1"/>
            <a:r>
              <a:rPr lang="es-ES" altLang="x-none" sz="2800" dirty="0"/>
              <a:t>El Subneteo permite una mejor administración, control del tráfico y seguridad al segmentar la red por función. seriales. </a:t>
            </a:r>
            <a:endParaRPr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1 Título"/>
          <p:cNvSpPr>
            <a:spLocks noGrp="1"/>
          </p:cNvSpPr>
          <p:nvPr>
            <p:ph type="title"/>
          </p:nvPr>
        </p:nvSpPr>
        <p:spPr>
          <a:ln/>
        </p:spPr>
        <p:txBody>
          <a:bodyPr vert="horz" wrap="square" lIns="91440" tIns="45720" rIns="91440" bIns="45720" anchor="ctr" anchorCtr="0"/>
          <a:p>
            <a:pPr eaLnBrk="1" hangingPunct="1"/>
            <a:r>
              <a:rPr dirty="0"/>
              <a:t>INTRODUCCIÓN SUBNETTING</a:t>
            </a:r>
            <a:endParaRPr dirty="0"/>
          </a:p>
        </p:txBody>
      </p:sp>
      <p:sp>
        <p:nvSpPr>
          <p:cNvPr id="24579" name="2 Marcador de contenido"/>
          <p:cNvSpPr>
            <a:spLocks noGrp="1"/>
          </p:cNvSpPr>
          <p:nvPr>
            <p:ph idx="1" hasCustomPrompt="1"/>
          </p:nvPr>
        </p:nvSpPr>
        <p:spPr>
          <a:xfrm>
            <a:off x="468313" y="1341438"/>
            <a:ext cx="8229600" cy="4824412"/>
          </a:xfrm>
          <a:ln/>
        </p:spPr>
        <p:txBody>
          <a:bodyPr vert="horz" wrap="square" lIns="91440" tIns="45720" rIns="91440" bIns="45720" anchor="t" anchorCtr="0"/>
          <a:p>
            <a:pPr eaLnBrk="1" hangingPunct="1"/>
            <a:r>
              <a:rPr lang="es-ES" altLang="x-none" sz="2800" dirty="0"/>
              <a:t>También, mejora la performance de la red al reducir el tráfico de broadcast de nuestra red. </a:t>
            </a:r>
            <a:endParaRPr lang="es-ES" altLang="x-none" sz="2800" dirty="0"/>
          </a:p>
          <a:p>
            <a:pPr eaLnBrk="1" hangingPunct="1"/>
            <a:r>
              <a:rPr lang="es-ES" altLang="x-none" sz="2800" dirty="0"/>
              <a:t>Como desventaja, su implementación desperdicia muchas direcciones, sobre todo en los enlaces seriales (máscara estática)</a:t>
            </a:r>
            <a:endParaRPr lang="es-ES" altLang="x-none" sz="2800" dirty="0"/>
          </a:p>
          <a:p>
            <a:pPr eaLnBrk="1" hangingPunct="1"/>
            <a:r>
              <a:rPr dirty="0"/>
              <a:t>Si necesito una red donde sólo hacen falta 20 IPs, ¿Cuántas direcciones IP malgastamos al coger una dirección de Clase C, con máscara estática? Malgastaríamos  2</a:t>
            </a:r>
            <a:r>
              <a:rPr baseline="30000" dirty="0"/>
              <a:t>8</a:t>
            </a:r>
            <a:r>
              <a:rPr dirty="0"/>
              <a:t> - 2 – 20 = 234 IP’s.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ln/>
        </p:spPr>
        <p:txBody>
          <a:bodyPr vert="horz" wrap="square" lIns="91440" tIns="45720" rIns="91440" bIns="45720" anchor="ctr" anchorCtr="0"/>
          <a:p>
            <a:r>
              <a:rPr dirty="0"/>
              <a:t>INTRODUCCIÓN SUBNETTING</a:t>
            </a:r>
            <a:endParaRPr lang="es-ES" altLang="x-none" dirty="0"/>
          </a:p>
        </p:txBody>
      </p:sp>
      <p:sp>
        <p:nvSpPr>
          <p:cNvPr id="25603" name="Rectangle 3"/>
          <p:cNvSpPr>
            <a:spLocks noGrp="1"/>
          </p:cNvSpPr>
          <p:nvPr>
            <p:ph idx="1" hasCustomPrompt="1"/>
          </p:nvPr>
        </p:nvSpPr>
        <p:spPr>
          <a:xfrm>
            <a:off x="457200" y="1412875"/>
            <a:ext cx="8229600" cy="4713288"/>
          </a:xfrm>
          <a:ln/>
        </p:spPr>
        <p:txBody>
          <a:bodyPr vert="horz" wrap="square" lIns="91440" tIns="45720" rIns="91440" bIns="45720" anchor="t" anchorCtr="0"/>
          <a:p>
            <a:r>
              <a:rPr lang="es-ES_tradnl" altLang="x-none" dirty="0"/>
              <a:t>Considerando la RFC 950, se debe descartar la primera y la última subred. Por la escasez de IPv4, la RFC quedó en desuso, pasando a tenerse en cuentas ambas subredes</a:t>
            </a:r>
            <a:endParaRPr lang="es-ES_tradnl" altLang="x-none" dirty="0"/>
          </a:p>
          <a:p>
            <a:r>
              <a:rPr lang="es-ES_tradnl" altLang="x-none" dirty="0"/>
              <a:t>La primer dirección, de una red/subred, es la de la red y la última es la de broadcast, ambas no se pueden utilizar para configurar un host (direcciones reservadas para la red y para el conjunto de host) </a:t>
            </a:r>
            <a:endParaRPr lang="es-ES" altLang="x-none"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ln/>
        </p:spPr>
        <p:txBody>
          <a:bodyPr vert="horz" wrap="square" lIns="91440" tIns="45720" rIns="91440" bIns="45720" anchor="ctr" anchorCtr="0"/>
          <a:p>
            <a:r>
              <a:rPr lang="es-ES_tradnl" altLang="x-none" sz="4000" dirty="0"/>
              <a:t>TOPOLOGIA PARA SUBDIVIDIR EN CLASE (192.168.1.0)</a:t>
            </a:r>
            <a:endParaRPr lang="es-ES" altLang="x-none" sz="4000" dirty="0"/>
          </a:p>
        </p:txBody>
      </p:sp>
      <p:pic>
        <p:nvPicPr>
          <p:cNvPr id="26627" name="Picture 3"/>
          <p:cNvPicPr>
            <a:picLocks noChangeAspect="1"/>
          </p:cNvPicPr>
          <p:nvPr>
            <p:ph idx="1" hasCustomPrompt="1"/>
          </p:nvPr>
        </p:nvPicPr>
        <p:blipFill>
          <a:blip r:embed="rId1"/>
          <a:srcRect/>
          <a:stretch>
            <a:fillRect/>
          </a:stretch>
        </p:blipFill>
        <p:spPr>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1 Título"/>
          <p:cNvSpPr>
            <a:spLocks noGrp="1"/>
          </p:cNvSpPr>
          <p:nvPr>
            <p:ph type="title"/>
          </p:nvPr>
        </p:nvSpPr>
        <p:spPr>
          <a:xfrm>
            <a:off x="457200" y="274638"/>
            <a:ext cx="8229600" cy="993775"/>
          </a:xfrm>
          <a:ln/>
        </p:spPr>
        <p:txBody>
          <a:bodyPr vert="horz" wrap="square" lIns="91440" tIns="45720" rIns="91440" bIns="45720" anchor="ctr" anchorCtr="0"/>
          <a:p>
            <a:pPr eaLnBrk="1" hangingPunct="1"/>
            <a:r>
              <a:rPr dirty="0"/>
              <a:t>EJEMPLO DE SUBNETTING</a:t>
            </a:r>
            <a:endParaRPr dirty="0"/>
          </a:p>
        </p:txBody>
      </p:sp>
      <p:sp>
        <p:nvSpPr>
          <p:cNvPr id="27651" name="2 Marcador de contenido"/>
          <p:cNvSpPr>
            <a:spLocks noGrp="1"/>
          </p:cNvSpPr>
          <p:nvPr>
            <p:ph idx="1" hasCustomPrompt="1"/>
          </p:nvPr>
        </p:nvSpPr>
        <p:spPr>
          <a:xfrm>
            <a:off x="457200" y="1052513"/>
            <a:ext cx="8229600" cy="504825"/>
          </a:xfrm>
          <a:ln/>
        </p:spPr>
        <p:txBody>
          <a:bodyPr vert="horz" wrap="square" lIns="91440" tIns="45720" rIns="91440" bIns="45720" anchor="t" anchorCtr="0"/>
          <a:p>
            <a:pPr eaLnBrk="1" hangingPunct="1"/>
            <a:r>
              <a:rPr dirty="0"/>
              <a:t>Dirección base: 192.168.1.0/24</a:t>
            </a:r>
            <a:endParaRPr dirty="0"/>
          </a:p>
          <a:p>
            <a:pPr eaLnBrk="1" hangingPunct="1"/>
            <a:endParaRPr dirty="0"/>
          </a:p>
        </p:txBody>
      </p:sp>
      <p:graphicFrame>
        <p:nvGraphicFramePr>
          <p:cNvPr id="20573" name="Group 93"/>
          <p:cNvGraphicFramePr>
            <a:graphicFrameLocks noGrp="1"/>
          </p:cNvGraphicFramePr>
          <p:nvPr/>
        </p:nvGraphicFramePr>
        <p:xfrm>
          <a:off x="714375" y="1714500"/>
          <a:ext cx="7242175" cy="5146675"/>
        </p:xfrm>
        <a:graphic>
          <a:graphicData uri="http://schemas.openxmlformats.org/drawingml/2006/table">
            <a:tbl>
              <a:tblPr/>
              <a:tblGrid>
                <a:gridCol w="2327851"/>
                <a:gridCol w="568392"/>
                <a:gridCol w="2172980"/>
                <a:gridCol w="2172979"/>
              </a:tblGrid>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dirty="0" smtClean="0">
                          <a:ln>
                            <a:noFill/>
                          </a:ln>
                          <a:solidFill>
                            <a:schemeClr val="tx1"/>
                          </a:solidFill>
                          <a:effectLst/>
                          <a:latin typeface="Calibri" panose="020F0502020204030204" pitchFamily="34" charset="0"/>
                        </a:rPr>
                        <a:t>192.168.1.000xxxxx</a:t>
                      </a:r>
                      <a:endParaRPr kumimoji="0" lang="es-AR" sz="1800" b="1" i="0" u="none" strike="noStrike" cap="none" normalizeH="0" baseline="0" dirty="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dirty="0" smtClean="0">
                          <a:ln>
                            <a:noFill/>
                          </a:ln>
                          <a:solidFill>
                            <a:schemeClr val="tx1"/>
                          </a:solidFill>
                          <a:effectLst/>
                          <a:latin typeface="Calibri" panose="020F0502020204030204" pitchFamily="34" charset="0"/>
                        </a:rPr>
                        <a:t>192.168.1.0/27</a:t>
                      </a:r>
                      <a:endParaRPr kumimoji="0" lang="es-AR" sz="1800" b="1" i="0" u="none" strike="noStrike" cap="none" normalizeH="0" baseline="0" dirty="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S0</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1H)192.168.1.1-UH)192.168.1.30</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DB)192.168.1.31</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192.168.1.001xxxxx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192.168.1.32/27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S1</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1H)192.168.1.33-</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UH)192.168.1.62</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DB)192.168.1.63</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192.168.1.010xxxxx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192.168.1.64/27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S2</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1H)192.168.1.65-UH)192.168.1.94</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DB)192.168.1.95</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192.168.1.011xxxxx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192.168.1.96/27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S3</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1H)192.168.1.97-UH)192.168.1.126</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DB)192.168.1.127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192.168.1.100xxxxx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192.168.1.128/27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S4</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1H)192.168.1.129-UH)192.168.1.158</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DB)192.168.1.159</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192.168.1.101xxxxx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192.168.1.160/27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S5</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1H)192.168.1.161-UH)192.168.1.190</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DB)192.168.1.191</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192.168.1.110xxxxx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192.168.1.192/27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S6</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1H)192.168.1.193-UH)192.168.1.222</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DB)192.168.1.223</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64325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192.168.1.111xxxxx</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192.168.1.224/27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S7</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1H)192.168.1.225-UH)192.168.1.254</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dirty="0" smtClean="0">
                          <a:ln>
                            <a:noFill/>
                          </a:ln>
                          <a:solidFill>
                            <a:schemeClr val="tx1"/>
                          </a:solidFill>
                          <a:effectLst/>
                          <a:latin typeface="Calibri" panose="020F0502020204030204" pitchFamily="34" charset="0"/>
                        </a:rPr>
                        <a:t>DB)192.168.1.255</a:t>
                      </a:r>
                      <a:endParaRPr kumimoji="0" lang="es-AR" sz="1800" b="1" i="0" u="none" strike="noStrike" cap="none" normalizeH="0" baseline="0" dirty="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Content Placeholder 2"/>
          <p:cNvSpPr>
            <a:spLocks noGrp="1"/>
          </p:cNvSpPr>
          <p:nvPr>
            <p:ph idx="1" hasCustomPrompt="1"/>
          </p:nvPr>
        </p:nvSpPr>
        <p:spPr>
          <a:xfrm>
            <a:off x="428625" y="285750"/>
            <a:ext cx="8229600" cy="5929313"/>
          </a:xfrm>
          <a:ln/>
        </p:spPr>
        <p:txBody>
          <a:bodyPr vert="horz" wrap="square" lIns="91440" tIns="45720" rIns="91440" bIns="45720" anchor="t" anchorCtr="0"/>
          <a:p>
            <a:pPr eaLnBrk="1" hangingPunct="1"/>
            <a:r>
              <a:rPr b="1" dirty="0"/>
              <a:t>S0</a:t>
            </a:r>
            <a:endParaRPr lang="es-ES" altLang="x-none" dirty="0"/>
          </a:p>
          <a:p>
            <a:pPr eaLnBrk="1" hangingPunct="1">
              <a:buNone/>
            </a:pPr>
            <a:r>
              <a:rPr b="1" dirty="0"/>
              <a:t>    192.168.1.000</a:t>
            </a:r>
            <a:r>
              <a:rPr b="1" dirty="0">
                <a:solidFill>
                  <a:srgbClr val="FF0000"/>
                </a:solidFill>
              </a:rPr>
              <a:t>00000</a:t>
            </a:r>
            <a:r>
              <a:rPr b="1" dirty="0"/>
              <a:t>/27 (192.168.1.0/27)</a:t>
            </a:r>
            <a:endParaRPr lang="es-ES" altLang="x-none" dirty="0"/>
          </a:p>
          <a:p>
            <a:pPr eaLnBrk="1" hangingPunct="1">
              <a:buNone/>
            </a:pPr>
            <a:r>
              <a:rPr b="1" dirty="0"/>
              <a:t>    1erH)192.168.1.000</a:t>
            </a:r>
            <a:r>
              <a:rPr b="1" dirty="0">
                <a:solidFill>
                  <a:srgbClr val="FF0000"/>
                </a:solidFill>
              </a:rPr>
              <a:t>00001</a:t>
            </a:r>
            <a:r>
              <a:rPr b="1" dirty="0"/>
              <a:t> (192.168.1.1)- UmoH)192.168.1.000</a:t>
            </a:r>
            <a:r>
              <a:rPr b="1" dirty="0">
                <a:solidFill>
                  <a:srgbClr val="FF0000"/>
                </a:solidFill>
              </a:rPr>
              <a:t>11110 </a:t>
            </a:r>
            <a:r>
              <a:rPr b="1" dirty="0"/>
              <a:t>(192.168.1.30)</a:t>
            </a:r>
            <a:endParaRPr lang="es-ES" altLang="x-none" dirty="0">
              <a:solidFill>
                <a:srgbClr val="FF0000"/>
              </a:solidFill>
            </a:endParaRPr>
          </a:p>
          <a:p>
            <a:pPr eaLnBrk="1" hangingPunct="1">
              <a:buNone/>
            </a:pPr>
            <a:r>
              <a:rPr b="1" dirty="0"/>
              <a:t>    DB) 192.168.1. 000</a:t>
            </a:r>
            <a:r>
              <a:rPr b="1" dirty="0">
                <a:solidFill>
                  <a:srgbClr val="FF0000"/>
                </a:solidFill>
              </a:rPr>
              <a:t>11111 </a:t>
            </a:r>
            <a:r>
              <a:rPr b="1" dirty="0"/>
              <a:t>(192.168.1.31)</a:t>
            </a:r>
            <a:endParaRPr lang="es-ES" altLang="x-none" dirty="0"/>
          </a:p>
          <a:p>
            <a:pPr eaLnBrk="1" hangingPunct="1"/>
            <a:r>
              <a:rPr b="1" dirty="0"/>
              <a:t>S1</a:t>
            </a:r>
            <a:endParaRPr b="1" dirty="0"/>
          </a:p>
          <a:p>
            <a:pPr eaLnBrk="1" hangingPunct="1">
              <a:buNone/>
            </a:pPr>
            <a:r>
              <a:rPr b="1" dirty="0"/>
              <a:t>	192.168.1.001</a:t>
            </a:r>
            <a:r>
              <a:rPr b="1" dirty="0">
                <a:solidFill>
                  <a:srgbClr val="FF0000"/>
                </a:solidFill>
              </a:rPr>
              <a:t>00000</a:t>
            </a:r>
            <a:r>
              <a:rPr b="1" dirty="0"/>
              <a:t>/27 (192.168.1.32/27)</a:t>
            </a:r>
            <a:endParaRPr lang="es-ES" altLang="x-none" dirty="0"/>
          </a:p>
          <a:p>
            <a:pPr eaLnBrk="1" hangingPunct="1">
              <a:buNone/>
            </a:pPr>
            <a:r>
              <a:rPr b="1" dirty="0"/>
              <a:t>	1erH)192.168.1.001</a:t>
            </a:r>
            <a:r>
              <a:rPr b="1" dirty="0">
                <a:solidFill>
                  <a:srgbClr val="FF0000"/>
                </a:solidFill>
              </a:rPr>
              <a:t>00001</a:t>
            </a:r>
            <a:r>
              <a:rPr b="1" dirty="0"/>
              <a:t> (192.168.1.33)</a:t>
            </a:r>
            <a:endParaRPr b="1" dirty="0"/>
          </a:p>
          <a:p>
            <a:pPr>
              <a:buNone/>
            </a:pPr>
            <a:r>
              <a:rPr lang="es-ES_tradnl" altLang="x-none" dirty="0"/>
              <a:t>    </a:t>
            </a:r>
            <a:r>
              <a:rPr b="1" dirty="0"/>
              <a:t>UmoH)192.168.1.001</a:t>
            </a:r>
            <a:r>
              <a:rPr b="1" dirty="0">
                <a:solidFill>
                  <a:srgbClr val="FF0000"/>
                </a:solidFill>
              </a:rPr>
              <a:t>11110 </a:t>
            </a:r>
            <a:r>
              <a:rPr b="1" dirty="0"/>
              <a:t>(192.168.1.62)</a:t>
            </a:r>
            <a:endParaRPr b="1" dirty="0"/>
          </a:p>
          <a:p>
            <a:pPr>
              <a:buNone/>
            </a:pPr>
            <a:r>
              <a:rPr b="1" dirty="0"/>
              <a:t>	 DB) 192.168.1. 001</a:t>
            </a:r>
            <a:r>
              <a:rPr b="1" dirty="0">
                <a:solidFill>
                  <a:srgbClr val="FF0000"/>
                </a:solidFill>
              </a:rPr>
              <a:t>11111 </a:t>
            </a:r>
            <a:r>
              <a:rPr b="1" dirty="0"/>
              <a:t>(192.168.1.63)</a:t>
            </a:r>
            <a:endParaRPr lang="es-ES" altLang="x-none"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Content Placeholder 2"/>
          <p:cNvSpPr>
            <a:spLocks noGrp="1"/>
          </p:cNvSpPr>
          <p:nvPr>
            <p:ph idx="1" hasCustomPrompt="1"/>
          </p:nvPr>
        </p:nvSpPr>
        <p:spPr>
          <a:xfrm>
            <a:off x="457200" y="357188"/>
            <a:ext cx="8229600" cy="5768975"/>
          </a:xfrm>
          <a:ln/>
        </p:spPr>
        <p:txBody>
          <a:bodyPr vert="horz" wrap="square" lIns="91440" tIns="45720" rIns="91440" bIns="45720" anchor="t" anchorCtr="0"/>
          <a:p>
            <a:pPr eaLnBrk="1" hangingPunct="1"/>
            <a:r>
              <a:rPr b="1" dirty="0"/>
              <a:t>S2</a:t>
            </a:r>
            <a:endParaRPr lang="es-ES" altLang="x-none" dirty="0"/>
          </a:p>
          <a:p>
            <a:pPr eaLnBrk="1" hangingPunct="1">
              <a:buNone/>
            </a:pPr>
            <a:r>
              <a:rPr b="1" dirty="0"/>
              <a:t>    192.168.1.010</a:t>
            </a:r>
            <a:r>
              <a:rPr b="1" dirty="0">
                <a:solidFill>
                  <a:srgbClr val="FF0000"/>
                </a:solidFill>
              </a:rPr>
              <a:t>00000</a:t>
            </a:r>
            <a:r>
              <a:rPr b="1" dirty="0"/>
              <a:t>/27 (192.168.1.64/27)</a:t>
            </a:r>
            <a:endParaRPr lang="es-ES" altLang="x-none" dirty="0"/>
          </a:p>
          <a:p>
            <a:pPr eaLnBrk="1" hangingPunct="1">
              <a:buNone/>
            </a:pPr>
            <a:r>
              <a:rPr b="1" dirty="0"/>
              <a:t>    1erH)192.168.1.010</a:t>
            </a:r>
            <a:r>
              <a:rPr b="1" dirty="0">
                <a:solidFill>
                  <a:srgbClr val="FF0000"/>
                </a:solidFill>
              </a:rPr>
              <a:t>00001</a:t>
            </a:r>
            <a:r>
              <a:rPr b="1" dirty="0"/>
              <a:t> (192.168.1.65)- UmoH)192.168.1.010</a:t>
            </a:r>
            <a:r>
              <a:rPr b="1" dirty="0">
                <a:solidFill>
                  <a:srgbClr val="FF0000"/>
                </a:solidFill>
              </a:rPr>
              <a:t>11110 </a:t>
            </a:r>
            <a:r>
              <a:rPr b="1" dirty="0"/>
              <a:t>(192.168.1.94)</a:t>
            </a:r>
            <a:endParaRPr lang="es-ES" altLang="x-none" dirty="0">
              <a:solidFill>
                <a:srgbClr val="FF0000"/>
              </a:solidFill>
            </a:endParaRPr>
          </a:p>
          <a:p>
            <a:pPr eaLnBrk="1" hangingPunct="1">
              <a:buNone/>
            </a:pPr>
            <a:r>
              <a:rPr b="1" dirty="0"/>
              <a:t>    DB) 192.168.1. 010</a:t>
            </a:r>
            <a:r>
              <a:rPr b="1" dirty="0">
                <a:solidFill>
                  <a:srgbClr val="FF0000"/>
                </a:solidFill>
              </a:rPr>
              <a:t>11111 </a:t>
            </a:r>
            <a:r>
              <a:rPr b="1" dirty="0"/>
              <a:t>(192.168.1.95)</a:t>
            </a:r>
            <a:endParaRPr b="1" dirty="0"/>
          </a:p>
          <a:p>
            <a:pPr eaLnBrk="1" hangingPunct="1"/>
            <a:r>
              <a:rPr b="1" dirty="0"/>
              <a:t>S3</a:t>
            </a:r>
            <a:endParaRPr lang="es-ES" altLang="x-none" dirty="0"/>
          </a:p>
          <a:p>
            <a:pPr eaLnBrk="1" hangingPunct="1">
              <a:buNone/>
            </a:pPr>
            <a:r>
              <a:rPr b="1" dirty="0"/>
              <a:t>    192.168.1.011</a:t>
            </a:r>
            <a:r>
              <a:rPr b="1" dirty="0">
                <a:solidFill>
                  <a:srgbClr val="FF0000"/>
                </a:solidFill>
              </a:rPr>
              <a:t>00000</a:t>
            </a:r>
            <a:r>
              <a:rPr b="1" dirty="0"/>
              <a:t>/27 (192.168.1.96/27)</a:t>
            </a:r>
            <a:endParaRPr lang="es-ES" altLang="x-none" dirty="0"/>
          </a:p>
          <a:p>
            <a:pPr eaLnBrk="1" hangingPunct="1">
              <a:buNone/>
            </a:pPr>
            <a:r>
              <a:rPr b="1" dirty="0"/>
              <a:t>    1erH)192.168.1.011</a:t>
            </a:r>
            <a:r>
              <a:rPr b="1" dirty="0">
                <a:solidFill>
                  <a:srgbClr val="FF0000"/>
                </a:solidFill>
              </a:rPr>
              <a:t>00001</a:t>
            </a:r>
            <a:r>
              <a:rPr b="1" dirty="0"/>
              <a:t> (192.168.1.97)- UmoH)192.168.1.011</a:t>
            </a:r>
            <a:r>
              <a:rPr b="1" dirty="0">
                <a:solidFill>
                  <a:srgbClr val="FF0000"/>
                </a:solidFill>
              </a:rPr>
              <a:t>11110 </a:t>
            </a:r>
            <a:r>
              <a:rPr b="1" dirty="0"/>
              <a:t>(192.168.1.126)</a:t>
            </a:r>
            <a:endParaRPr lang="es-ES" altLang="x-none" dirty="0">
              <a:solidFill>
                <a:srgbClr val="FF0000"/>
              </a:solidFill>
            </a:endParaRPr>
          </a:p>
          <a:p>
            <a:pPr eaLnBrk="1" hangingPunct="1">
              <a:buNone/>
            </a:pPr>
            <a:r>
              <a:rPr b="1" dirty="0"/>
              <a:t>    DB) 192.168.1. 011</a:t>
            </a:r>
            <a:r>
              <a:rPr b="1" dirty="0">
                <a:solidFill>
                  <a:srgbClr val="FF0000"/>
                </a:solidFill>
              </a:rPr>
              <a:t>11111 </a:t>
            </a:r>
            <a:r>
              <a:rPr b="1" dirty="0"/>
              <a:t>(192.168.1.127)</a:t>
            </a:r>
            <a:endParaRPr lang="es-ES" altLang="x-none" dirty="0"/>
          </a:p>
          <a:p>
            <a:pPr eaLnBrk="1" hangingPunct="1">
              <a:buNone/>
            </a:pPr>
            <a:endParaRPr lang="es-ES" altLang="x-none" dirty="0"/>
          </a:p>
          <a:p>
            <a:endParaRPr lang="es-ES" altLang="x-none"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Content Placeholder 2"/>
          <p:cNvSpPr>
            <a:spLocks noGrp="1"/>
          </p:cNvSpPr>
          <p:nvPr>
            <p:ph idx="1" hasCustomPrompt="1"/>
          </p:nvPr>
        </p:nvSpPr>
        <p:spPr>
          <a:xfrm>
            <a:off x="457200" y="428625"/>
            <a:ext cx="8229600" cy="5697538"/>
          </a:xfrm>
          <a:ln/>
        </p:spPr>
        <p:txBody>
          <a:bodyPr vert="horz" wrap="square" lIns="91440" tIns="45720" rIns="91440" bIns="45720" anchor="t" anchorCtr="0"/>
          <a:p>
            <a:pPr eaLnBrk="1" hangingPunct="1"/>
            <a:r>
              <a:rPr b="1" dirty="0"/>
              <a:t>S4</a:t>
            </a:r>
            <a:endParaRPr lang="es-ES" altLang="x-none" dirty="0"/>
          </a:p>
          <a:p>
            <a:pPr eaLnBrk="1" hangingPunct="1">
              <a:buNone/>
            </a:pPr>
            <a:r>
              <a:rPr b="1" dirty="0"/>
              <a:t>    192.168.1.100</a:t>
            </a:r>
            <a:r>
              <a:rPr b="1" dirty="0">
                <a:solidFill>
                  <a:srgbClr val="FF0000"/>
                </a:solidFill>
              </a:rPr>
              <a:t>00000</a:t>
            </a:r>
            <a:r>
              <a:rPr b="1" dirty="0"/>
              <a:t>/27 (192.168.1.128/27)</a:t>
            </a:r>
            <a:endParaRPr lang="es-ES" altLang="x-none" dirty="0"/>
          </a:p>
          <a:p>
            <a:pPr eaLnBrk="1" hangingPunct="1">
              <a:buNone/>
            </a:pPr>
            <a:r>
              <a:rPr b="1" dirty="0"/>
              <a:t>    1erH)192.168.1.100</a:t>
            </a:r>
            <a:r>
              <a:rPr b="1" dirty="0">
                <a:solidFill>
                  <a:srgbClr val="FF0000"/>
                </a:solidFill>
              </a:rPr>
              <a:t>00001</a:t>
            </a:r>
            <a:r>
              <a:rPr b="1" dirty="0"/>
              <a:t> (192.168.1.129)- UmoH)192.168.1.100</a:t>
            </a:r>
            <a:r>
              <a:rPr b="1" dirty="0">
                <a:solidFill>
                  <a:srgbClr val="FF0000"/>
                </a:solidFill>
              </a:rPr>
              <a:t>11110 </a:t>
            </a:r>
            <a:r>
              <a:rPr b="1" dirty="0"/>
              <a:t>(192.168.1.158)</a:t>
            </a:r>
            <a:endParaRPr lang="es-ES" altLang="x-none" dirty="0">
              <a:solidFill>
                <a:srgbClr val="FF0000"/>
              </a:solidFill>
            </a:endParaRPr>
          </a:p>
          <a:p>
            <a:pPr eaLnBrk="1" hangingPunct="1">
              <a:buNone/>
            </a:pPr>
            <a:r>
              <a:rPr b="1" dirty="0"/>
              <a:t>    DB) 192.168.1. 100</a:t>
            </a:r>
            <a:r>
              <a:rPr b="1" dirty="0">
                <a:solidFill>
                  <a:srgbClr val="FF0000"/>
                </a:solidFill>
              </a:rPr>
              <a:t>11111 </a:t>
            </a:r>
            <a:r>
              <a:rPr b="1" dirty="0"/>
              <a:t>(192.168.1.159)</a:t>
            </a:r>
            <a:endParaRPr b="1" dirty="0"/>
          </a:p>
          <a:p>
            <a:pPr eaLnBrk="1" hangingPunct="1"/>
            <a:r>
              <a:rPr b="1" dirty="0"/>
              <a:t>S5</a:t>
            </a:r>
            <a:endParaRPr lang="es-ES" altLang="x-none" dirty="0"/>
          </a:p>
          <a:p>
            <a:pPr eaLnBrk="1" hangingPunct="1">
              <a:buNone/>
            </a:pPr>
            <a:r>
              <a:rPr b="1" dirty="0"/>
              <a:t>    192.168.1.101</a:t>
            </a:r>
            <a:r>
              <a:rPr b="1" dirty="0">
                <a:solidFill>
                  <a:srgbClr val="FF0000"/>
                </a:solidFill>
              </a:rPr>
              <a:t>00000</a:t>
            </a:r>
            <a:r>
              <a:rPr b="1" dirty="0"/>
              <a:t>/27 (192.168.1.160/27)</a:t>
            </a:r>
            <a:endParaRPr lang="es-ES" altLang="x-none" dirty="0"/>
          </a:p>
          <a:p>
            <a:pPr eaLnBrk="1" hangingPunct="1">
              <a:buNone/>
            </a:pPr>
            <a:r>
              <a:rPr b="1" dirty="0"/>
              <a:t>    1erH)192.168.1.101</a:t>
            </a:r>
            <a:r>
              <a:rPr b="1" dirty="0">
                <a:solidFill>
                  <a:srgbClr val="FF0000"/>
                </a:solidFill>
              </a:rPr>
              <a:t>00001</a:t>
            </a:r>
            <a:r>
              <a:rPr b="1" dirty="0"/>
              <a:t> (192.168.1.161)- UmoH)192.168.1.101</a:t>
            </a:r>
            <a:r>
              <a:rPr b="1" dirty="0">
                <a:solidFill>
                  <a:srgbClr val="FF0000"/>
                </a:solidFill>
              </a:rPr>
              <a:t>11110 </a:t>
            </a:r>
            <a:r>
              <a:rPr b="1" dirty="0"/>
              <a:t>(192.168.1.190)</a:t>
            </a:r>
            <a:endParaRPr lang="es-ES" altLang="x-none" dirty="0">
              <a:solidFill>
                <a:srgbClr val="FF0000"/>
              </a:solidFill>
            </a:endParaRPr>
          </a:p>
          <a:p>
            <a:pPr eaLnBrk="1" hangingPunct="1">
              <a:buNone/>
            </a:pPr>
            <a:r>
              <a:rPr b="1" dirty="0"/>
              <a:t>    DB) 192.168.1. 101</a:t>
            </a:r>
            <a:r>
              <a:rPr b="1" dirty="0">
                <a:solidFill>
                  <a:srgbClr val="FF0000"/>
                </a:solidFill>
              </a:rPr>
              <a:t>11111 </a:t>
            </a:r>
            <a:r>
              <a:rPr b="1" dirty="0"/>
              <a:t>(192.168.1.191)</a:t>
            </a:r>
            <a:endParaRPr lang="es-ES" altLang="x-none" dirty="0"/>
          </a:p>
          <a:p>
            <a:endParaRPr lang="es-ES" altLang="x-none"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Content Placeholder 2"/>
          <p:cNvSpPr>
            <a:spLocks noGrp="1"/>
          </p:cNvSpPr>
          <p:nvPr>
            <p:ph idx="1" hasCustomPrompt="1"/>
          </p:nvPr>
        </p:nvSpPr>
        <p:spPr>
          <a:xfrm>
            <a:off x="457200" y="357188"/>
            <a:ext cx="8229600" cy="5768975"/>
          </a:xfrm>
          <a:ln/>
        </p:spPr>
        <p:txBody>
          <a:bodyPr vert="horz" wrap="square" lIns="91440" tIns="45720" rIns="91440" bIns="45720" anchor="t" anchorCtr="0"/>
          <a:p>
            <a:pPr eaLnBrk="1" hangingPunct="1"/>
            <a:r>
              <a:rPr b="1" dirty="0"/>
              <a:t>S6</a:t>
            </a:r>
            <a:endParaRPr lang="es-ES" altLang="x-none" dirty="0"/>
          </a:p>
          <a:p>
            <a:pPr eaLnBrk="1" hangingPunct="1">
              <a:buNone/>
            </a:pPr>
            <a:r>
              <a:rPr b="1" dirty="0"/>
              <a:t>    192.168.1.110</a:t>
            </a:r>
            <a:r>
              <a:rPr b="1" dirty="0">
                <a:solidFill>
                  <a:srgbClr val="FF0000"/>
                </a:solidFill>
              </a:rPr>
              <a:t>00000</a:t>
            </a:r>
            <a:r>
              <a:rPr b="1" dirty="0"/>
              <a:t>/27 (192.168.1.192/27)</a:t>
            </a:r>
            <a:endParaRPr lang="es-ES" altLang="x-none" dirty="0"/>
          </a:p>
          <a:p>
            <a:pPr eaLnBrk="1" hangingPunct="1">
              <a:buNone/>
            </a:pPr>
            <a:r>
              <a:rPr b="1" dirty="0"/>
              <a:t>    1erH)192.168.1.110</a:t>
            </a:r>
            <a:r>
              <a:rPr b="1" dirty="0">
                <a:solidFill>
                  <a:srgbClr val="FF0000"/>
                </a:solidFill>
              </a:rPr>
              <a:t>00001</a:t>
            </a:r>
            <a:r>
              <a:rPr b="1" dirty="0"/>
              <a:t> (192.168.1.193)- UmoH)192.168.1.110</a:t>
            </a:r>
            <a:r>
              <a:rPr b="1" dirty="0">
                <a:solidFill>
                  <a:srgbClr val="FF0000"/>
                </a:solidFill>
              </a:rPr>
              <a:t>11110 </a:t>
            </a:r>
            <a:r>
              <a:rPr b="1" dirty="0"/>
              <a:t>(192.168.1.222)</a:t>
            </a:r>
            <a:endParaRPr lang="es-ES" altLang="x-none" dirty="0">
              <a:solidFill>
                <a:srgbClr val="FF0000"/>
              </a:solidFill>
            </a:endParaRPr>
          </a:p>
          <a:p>
            <a:pPr eaLnBrk="1" hangingPunct="1">
              <a:buNone/>
            </a:pPr>
            <a:r>
              <a:rPr b="1" dirty="0"/>
              <a:t>    DB) 192.168.1. 110</a:t>
            </a:r>
            <a:r>
              <a:rPr b="1" dirty="0">
                <a:solidFill>
                  <a:srgbClr val="FF0000"/>
                </a:solidFill>
              </a:rPr>
              <a:t>11111 </a:t>
            </a:r>
            <a:r>
              <a:rPr b="1" dirty="0"/>
              <a:t>(192.168.1.223)</a:t>
            </a:r>
            <a:endParaRPr b="1" dirty="0"/>
          </a:p>
          <a:p>
            <a:pPr eaLnBrk="1" hangingPunct="1"/>
            <a:r>
              <a:rPr b="1" dirty="0"/>
              <a:t>S7</a:t>
            </a:r>
            <a:endParaRPr lang="es-ES" altLang="x-none" dirty="0"/>
          </a:p>
          <a:p>
            <a:pPr eaLnBrk="1" hangingPunct="1">
              <a:buNone/>
            </a:pPr>
            <a:r>
              <a:rPr b="1" dirty="0"/>
              <a:t>    192.168.1.111</a:t>
            </a:r>
            <a:r>
              <a:rPr b="1" dirty="0">
                <a:solidFill>
                  <a:srgbClr val="FF0000"/>
                </a:solidFill>
              </a:rPr>
              <a:t>00000</a:t>
            </a:r>
            <a:r>
              <a:rPr b="1" dirty="0"/>
              <a:t>/27 (192.168.1.224/27)</a:t>
            </a:r>
            <a:endParaRPr lang="es-ES" altLang="x-none" dirty="0"/>
          </a:p>
          <a:p>
            <a:pPr eaLnBrk="1" hangingPunct="1">
              <a:buNone/>
            </a:pPr>
            <a:r>
              <a:rPr b="1" dirty="0"/>
              <a:t>    1erH)192.168.1.111</a:t>
            </a:r>
            <a:r>
              <a:rPr b="1" dirty="0">
                <a:solidFill>
                  <a:srgbClr val="FF0000"/>
                </a:solidFill>
              </a:rPr>
              <a:t>00001</a:t>
            </a:r>
            <a:r>
              <a:rPr b="1" dirty="0"/>
              <a:t> (192.168.1.225)- UmoH)192.168.1.111</a:t>
            </a:r>
            <a:r>
              <a:rPr b="1" dirty="0">
                <a:solidFill>
                  <a:srgbClr val="FF0000"/>
                </a:solidFill>
              </a:rPr>
              <a:t>11110 </a:t>
            </a:r>
            <a:r>
              <a:rPr b="1" dirty="0"/>
              <a:t>(192.168.1.254)</a:t>
            </a:r>
            <a:endParaRPr lang="es-ES" altLang="x-none" dirty="0">
              <a:solidFill>
                <a:srgbClr val="FF0000"/>
              </a:solidFill>
            </a:endParaRPr>
          </a:p>
          <a:p>
            <a:pPr eaLnBrk="1" hangingPunct="1">
              <a:buNone/>
            </a:pPr>
            <a:r>
              <a:rPr b="1" dirty="0"/>
              <a:t>    DB) 192.168.1. 111</a:t>
            </a:r>
            <a:r>
              <a:rPr b="1" dirty="0">
                <a:solidFill>
                  <a:srgbClr val="FF0000"/>
                </a:solidFill>
              </a:rPr>
              <a:t>11111 </a:t>
            </a:r>
            <a:r>
              <a:rPr b="1" dirty="0"/>
              <a:t>(192.168.1.255)</a:t>
            </a:r>
            <a:endParaRPr lang="es-ES" altLang="x-none" dirty="0"/>
          </a:p>
          <a:p>
            <a:endParaRPr lang="es-ES" altLang="x-none"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1 Título"/>
          <p:cNvSpPr>
            <a:spLocks noGrp="1"/>
          </p:cNvSpPr>
          <p:nvPr>
            <p:ph type="title"/>
          </p:nvPr>
        </p:nvSpPr>
        <p:spPr>
          <a:ln/>
        </p:spPr>
        <p:txBody>
          <a:bodyPr vert="horz" wrap="square" lIns="91440" tIns="45720" rIns="91440" bIns="45720" anchor="ctr" anchorCtr="0"/>
          <a:p>
            <a:r>
              <a:rPr dirty="0"/>
              <a:t>SUPERNETTING</a:t>
            </a:r>
            <a:endParaRPr dirty="0"/>
          </a:p>
        </p:txBody>
      </p:sp>
      <p:sp>
        <p:nvSpPr>
          <p:cNvPr id="32771" name="2 Marcador de contenido"/>
          <p:cNvSpPr>
            <a:spLocks noGrp="1"/>
          </p:cNvSpPr>
          <p:nvPr>
            <p:ph idx="1" hasCustomPrompt="1"/>
          </p:nvPr>
        </p:nvSpPr>
        <p:spPr>
          <a:ln/>
        </p:spPr>
        <p:txBody>
          <a:bodyPr vert="horz" wrap="square" lIns="91440" tIns="45720" rIns="91440" bIns="45720" anchor="t" anchorCtr="0"/>
          <a:p>
            <a:r>
              <a:rPr b="1" dirty="0"/>
              <a:t>Subred 6 192.168.1.110xxxxx</a:t>
            </a:r>
            <a:endParaRPr b="1" dirty="0"/>
          </a:p>
          <a:p>
            <a:r>
              <a:rPr b="1" dirty="0"/>
              <a:t>Subred 7 192.168.1.111xxxxx</a:t>
            </a:r>
            <a:endParaRPr b="1" dirty="0"/>
          </a:p>
          <a:p>
            <a:r>
              <a:rPr b="1" dirty="0"/>
              <a:t>192.168.1.192/26</a:t>
            </a:r>
            <a:endParaRPr b="1" dirty="0"/>
          </a:p>
          <a:p>
            <a:pPr eaLnBrk="1" hangingPunct="1"/>
            <a:r>
              <a:rPr b="1" dirty="0"/>
              <a:t>Subred 0 192.168.1.000xxxxx</a:t>
            </a:r>
            <a:endParaRPr b="1" dirty="0"/>
          </a:p>
          <a:p>
            <a:pPr eaLnBrk="1" hangingPunct="1"/>
            <a:r>
              <a:rPr b="1" dirty="0"/>
              <a:t>Subred 1 192.168.1.001xxxxx</a:t>
            </a:r>
            <a:endParaRPr b="1" dirty="0"/>
          </a:p>
          <a:p>
            <a:pPr eaLnBrk="1" hangingPunct="1"/>
            <a:r>
              <a:rPr b="1" dirty="0"/>
              <a:t>Subred 2 192.168.1.010xxxxx</a:t>
            </a:r>
            <a:endParaRPr b="1" dirty="0"/>
          </a:p>
          <a:p>
            <a:pPr eaLnBrk="1" hangingPunct="1"/>
            <a:r>
              <a:rPr b="1" dirty="0"/>
              <a:t>Subred 3 192.168.1.011xxxxx</a:t>
            </a:r>
            <a:endParaRPr b="1" dirty="0"/>
          </a:p>
          <a:p>
            <a:pPr eaLnBrk="1" hangingPunct="1"/>
            <a:r>
              <a:rPr b="1" dirty="0"/>
              <a:t>192.168.1.0/25</a:t>
            </a:r>
            <a:endParaRPr b="1" dirty="0"/>
          </a:p>
          <a:p>
            <a:endParaRPr b="1" dirty="0"/>
          </a:p>
          <a:p>
            <a:endParaRPr b="1" dirty="0"/>
          </a:p>
          <a:p>
            <a:endParaRPr b="1" dirty="0"/>
          </a:p>
          <a:p>
            <a:endParaRPr b="1" dirty="0"/>
          </a:p>
          <a:p>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ln/>
        </p:spPr>
        <p:txBody>
          <a:bodyPr vert="horz" wrap="square" lIns="91440" tIns="45720" rIns="91440" bIns="45720" anchor="ctr" anchorCtr="0"/>
          <a:p>
            <a:r>
              <a:rPr dirty="0"/>
              <a:t>VLSM: EJEMPLO (192.168.1.0/24)</a:t>
            </a:r>
            <a:endParaRPr lang="es-ES" altLang="x-none" dirty="0"/>
          </a:p>
        </p:txBody>
      </p:sp>
      <p:sp>
        <p:nvSpPr>
          <p:cNvPr id="33795" name="5 Marcador de contenido"/>
          <p:cNvSpPr>
            <a:spLocks noGrp="1"/>
          </p:cNvSpPr>
          <p:nvPr>
            <p:ph idx="1" hasCustomPrompt="1"/>
          </p:nvPr>
        </p:nvSpPr>
        <p:spPr>
          <a:ln/>
        </p:spPr>
        <p:txBody>
          <a:bodyPr vert="horz" wrap="square" lIns="91440" tIns="45720" rIns="91440" bIns="45720" anchor="t" anchorCtr="0"/>
          <a:p>
            <a:endParaRPr lang="es-ES" altLang="x-none" dirty="0"/>
          </a:p>
        </p:txBody>
      </p:sp>
      <p:pic>
        <p:nvPicPr>
          <p:cNvPr id="33796" name="Picture 5"/>
          <p:cNvPicPr>
            <a:picLocks noChangeAspect="1"/>
          </p:cNvPicPr>
          <p:nvPr/>
        </p:nvPicPr>
        <p:blipFill>
          <a:blip r:embed="rId1"/>
          <a:stretch>
            <a:fillRect/>
          </a:stretch>
        </p:blipFill>
        <p:spPr>
          <a:xfrm>
            <a:off x="539750" y="1700213"/>
            <a:ext cx="8064500" cy="432117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1 Título"/>
          <p:cNvSpPr>
            <a:spLocks noGrp="1"/>
          </p:cNvSpPr>
          <p:nvPr>
            <p:ph type="title"/>
          </p:nvPr>
        </p:nvSpPr>
        <p:spPr>
          <a:ln/>
        </p:spPr>
        <p:txBody>
          <a:bodyPr vert="horz" wrap="square" lIns="91440" tIns="45720" rIns="91440" bIns="45720" anchor="ctr" anchorCtr="0"/>
          <a:p>
            <a:r>
              <a:rPr dirty="0"/>
              <a:t>IP’s NO APROVECHADAS</a:t>
            </a:r>
            <a:endParaRPr dirty="0"/>
          </a:p>
        </p:txBody>
      </p:sp>
      <p:graphicFrame>
        <p:nvGraphicFramePr>
          <p:cNvPr id="4" name="3 Marcador de contenido"/>
          <p:cNvGraphicFramePr>
            <a:graphicFrameLocks noGrp="1"/>
          </p:cNvGraphicFramePr>
          <p:nvPr>
            <p:ph idx="1"/>
          </p:nvPr>
        </p:nvGraphicFramePr>
        <p:xfrm>
          <a:off x="1547813" y="1557338"/>
          <a:ext cx="6059488" cy="3708400"/>
        </p:xfrm>
        <a:graphic>
          <a:graphicData uri="http://schemas.openxmlformats.org/drawingml/2006/table">
            <a:tbl>
              <a:tblPr/>
              <a:tblGrid>
                <a:gridCol w="644525"/>
                <a:gridCol w="1885950"/>
                <a:gridCol w="1008062"/>
                <a:gridCol w="2520950"/>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RED</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DISPONIBILIDAD</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USADAS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NO  USADAS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S1</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27</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27</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S5</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S7</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s-ES"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TOTAL</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218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ln/>
        </p:spPr>
        <p:txBody>
          <a:bodyPr vert="horz" wrap="square" lIns="91440" tIns="45720" rIns="91440" bIns="45720" anchor="ctr" anchorCtr="0"/>
          <a:p>
            <a:r>
              <a:rPr dirty="0"/>
              <a:t>VLSM</a:t>
            </a:r>
            <a:endParaRPr lang="es-ES" altLang="x-none" dirty="0"/>
          </a:p>
        </p:txBody>
      </p:sp>
      <p:sp>
        <p:nvSpPr>
          <p:cNvPr id="35843" name="Rectangle 3"/>
          <p:cNvSpPr>
            <a:spLocks noGrp="1"/>
          </p:cNvSpPr>
          <p:nvPr>
            <p:ph idx="1" hasCustomPrompt="1"/>
          </p:nvPr>
        </p:nvSpPr>
        <p:spPr>
          <a:xfrm>
            <a:off x="457200" y="1341438"/>
            <a:ext cx="8229600" cy="4784725"/>
          </a:xfrm>
          <a:ln/>
        </p:spPr>
        <p:txBody>
          <a:bodyPr vert="horz" wrap="square" lIns="91440" tIns="45720" rIns="91440" bIns="45720" anchor="t" anchorCtr="0"/>
          <a:p>
            <a:pPr>
              <a:lnSpc>
                <a:spcPct val="80000"/>
              </a:lnSpc>
            </a:pPr>
            <a:r>
              <a:rPr lang="es-ES_tradnl" altLang="x-none" sz="2000" dirty="0"/>
              <a:t>Máscara de Red de tamañ</a:t>
            </a:r>
            <a:r>
              <a:rPr sz="2000" dirty="0"/>
              <a:t>o variable</a:t>
            </a:r>
            <a:endParaRPr sz="2000" dirty="0"/>
          </a:p>
          <a:p>
            <a:pPr>
              <a:lnSpc>
                <a:spcPct val="80000"/>
              </a:lnSpc>
            </a:pPr>
            <a:endParaRPr sz="2000" dirty="0"/>
          </a:p>
          <a:p>
            <a:pPr>
              <a:lnSpc>
                <a:spcPct val="80000"/>
              </a:lnSpc>
            </a:pPr>
            <a:r>
              <a:rPr sz="2000" dirty="0"/>
              <a:t>Se utiliza cuando se desea dividir una red en subredes de distintos tamaños </a:t>
            </a:r>
            <a:endParaRPr sz="2000" dirty="0"/>
          </a:p>
          <a:p>
            <a:pPr>
              <a:lnSpc>
                <a:spcPct val="80000"/>
              </a:lnSpc>
            </a:pPr>
            <a:endParaRPr sz="2000" dirty="0"/>
          </a:p>
          <a:p>
            <a:pPr>
              <a:lnSpc>
                <a:spcPct val="80000"/>
              </a:lnSpc>
            </a:pPr>
            <a:r>
              <a:rPr lang="en-US" altLang="x-none" sz="2000" dirty="0"/>
              <a:t>La máscara varía de una red a otra, es decir, las parte red y host no es la misma para todas las subredes</a:t>
            </a:r>
            <a:endParaRPr lang="en-US" altLang="x-none" sz="2000" dirty="0"/>
          </a:p>
          <a:p>
            <a:pPr>
              <a:lnSpc>
                <a:spcPct val="80000"/>
              </a:lnSpc>
            </a:pPr>
            <a:endParaRPr lang="en-US" altLang="x-none" sz="2000" dirty="0"/>
          </a:p>
          <a:p>
            <a:pPr>
              <a:lnSpc>
                <a:spcPct val="80000"/>
              </a:lnSpc>
            </a:pPr>
            <a:r>
              <a:rPr lang="en-US" altLang="x-none" sz="2000" dirty="0"/>
              <a:t>Se debe tener especial cuidado para no solapar las direcciones de las subredes</a:t>
            </a:r>
            <a:endParaRPr lang="en-US" altLang="x-none" sz="2000" dirty="0"/>
          </a:p>
          <a:p>
            <a:pPr>
              <a:lnSpc>
                <a:spcPct val="80000"/>
              </a:lnSpc>
            </a:pPr>
            <a:endParaRPr lang="en-US" altLang="x-none" sz="2000" dirty="0"/>
          </a:p>
          <a:p>
            <a:pPr>
              <a:lnSpc>
                <a:spcPct val="80000"/>
              </a:lnSpc>
            </a:pPr>
            <a:r>
              <a:rPr lang="en-US" altLang="x-none" sz="2000" dirty="0"/>
              <a:t>Lo que desde un sitio de la red se ve como una sola subred, desde otro sitio “más cercano” se puede dividir en subredes más peque</a:t>
            </a:r>
            <a:r>
              <a:rPr sz="2000" dirty="0"/>
              <a:t>ñas</a:t>
            </a:r>
            <a:endParaRPr sz="2000" dirty="0"/>
          </a:p>
          <a:p>
            <a:pPr>
              <a:lnSpc>
                <a:spcPct val="80000"/>
              </a:lnSpc>
            </a:pPr>
            <a:endParaRPr sz="2000" dirty="0"/>
          </a:p>
          <a:p>
            <a:pPr>
              <a:lnSpc>
                <a:spcPct val="80000"/>
              </a:lnSpc>
            </a:pPr>
            <a:r>
              <a:rPr lang="es-ES" altLang="x-none" sz="2000" dirty="0"/>
              <a:t>Para el cálculo, se ordena los requerimientos de mayor a menor</a:t>
            </a:r>
            <a:endParaRPr lang="es-ES" altLang="x-none" sz="2000" dirty="0"/>
          </a:p>
          <a:p>
            <a:pPr>
              <a:lnSpc>
                <a:spcPct val="80000"/>
              </a:lnSpc>
            </a:pPr>
            <a:endParaRPr lang="es-ES" altLang="x-none"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ln/>
        </p:spPr>
        <p:txBody>
          <a:bodyPr vert="horz" wrap="square" lIns="91440" tIns="45720" rIns="91440" bIns="45720" anchor="ctr" anchorCtr="0"/>
          <a:p>
            <a:r>
              <a:rPr dirty="0"/>
              <a:t>VLSM</a:t>
            </a:r>
            <a:endParaRPr lang="es-ES" altLang="x-none" dirty="0"/>
          </a:p>
        </p:txBody>
      </p:sp>
      <p:graphicFrame>
        <p:nvGraphicFramePr>
          <p:cNvPr id="25679" name="Group 79"/>
          <p:cNvGraphicFramePr>
            <a:graphicFrameLocks noGrp="1"/>
          </p:cNvGraphicFramePr>
          <p:nvPr>
            <p:ph idx="1"/>
          </p:nvPr>
        </p:nvGraphicFramePr>
        <p:xfrm>
          <a:off x="457200" y="1600200"/>
          <a:ext cx="8229600" cy="5260975"/>
        </p:xfrm>
        <a:graphic>
          <a:graphicData uri="http://schemas.openxmlformats.org/drawingml/2006/table">
            <a:tbl>
              <a:tblPr/>
              <a:tblGrid>
                <a:gridCol w="1090613"/>
                <a:gridCol w="792162"/>
                <a:gridCol w="2087563"/>
                <a:gridCol w="2632075"/>
                <a:gridCol w="1627187"/>
              </a:tblGrid>
              <a:tr h="454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NOMBRE</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HOST   </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  (h)</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n(nro de bits)</a:t>
                      </a:r>
                      <a:endParaRPr kumimoji="0" lang="es-AR" sz="1800" b="1" i="0" u="none" strike="noStrike" cap="none" normalizeH="0" baseline="0" smtClean="0">
                        <a:ln>
                          <a:noFill/>
                        </a:ln>
                        <a:solidFill>
                          <a:schemeClr val="tx1"/>
                        </a:solidFill>
                        <a:effectLst/>
                        <a:latin typeface="Calibri" panose="020F050202020403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H(disponibles) =2</a:t>
                      </a:r>
                      <a:r>
                        <a:rPr kumimoji="0" lang="es-AR" sz="1800" b="1" i="0" u="none" strike="noStrike" cap="none" normalizeH="0" baseline="30000" smtClean="0">
                          <a:ln>
                            <a:noFill/>
                          </a:ln>
                          <a:solidFill>
                            <a:schemeClr val="tx1"/>
                          </a:solidFill>
                          <a:effectLst/>
                          <a:latin typeface="Calibri" panose="020F0502020204030204" pitchFamily="34" charset="0"/>
                        </a:rPr>
                        <a:t>n</a:t>
                      </a:r>
                      <a:r>
                        <a:rPr kumimoji="0" lang="es-AR" sz="1800" b="1" i="0" u="none" strike="noStrike" cap="none" normalizeH="0" baseline="0" smtClean="0">
                          <a:ln>
                            <a:noFill/>
                          </a:ln>
                          <a:solidFill>
                            <a:schemeClr val="tx1"/>
                          </a:solidFill>
                          <a:effectLst/>
                          <a:latin typeface="Calibri" panose="020F0502020204030204" pitchFamily="34" charset="0"/>
                        </a:rPr>
                        <a:t>-2&gt;=h(interfaces existentes)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RED</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NO  USADAS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08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S1</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n=3     H=6  </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192.168.1.00000</a:t>
                      </a:r>
                      <a:r>
                        <a:rPr kumimoji="0" lang="es-AR" sz="1800" b="0" i="0" u="none" strike="noStrike" cap="none" normalizeH="0" baseline="0" smtClean="0">
                          <a:ln>
                            <a:noFill/>
                          </a:ln>
                          <a:solidFill>
                            <a:schemeClr val="accent2"/>
                          </a:solidFill>
                          <a:effectLst/>
                          <a:latin typeface="Calibri" panose="020F0502020204030204" pitchFamily="34" charset="0"/>
                        </a:rPr>
                        <a:t>000</a:t>
                      </a:r>
                      <a:r>
                        <a:rPr kumimoji="0" lang="es-AR" sz="1800" b="0" i="0" u="none" strike="noStrike" cap="none" normalizeH="0" baseline="0" smtClean="0">
                          <a:ln>
                            <a:noFill/>
                          </a:ln>
                          <a:solidFill>
                            <a:schemeClr val="tx1"/>
                          </a:solidFill>
                          <a:effectLst/>
                          <a:latin typeface="Calibri" panose="020F0502020204030204" pitchFamily="34" charset="0"/>
                        </a:rPr>
                        <a:t>/29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4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n=3     H=6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192.168.1.00001</a:t>
                      </a:r>
                      <a:r>
                        <a:rPr kumimoji="0" lang="es-AR" sz="1800" b="0" i="0" u="none" strike="noStrike" cap="none" normalizeH="0" baseline="0" smtClean="0">
                          <a:ln>
                            <a:noFill/>
                          </a:ln>
                          <a:solidFill>
                            <a:schemeClr val="accent2"/>
                          </a:solidFill>
                          <a:effectLst/>
                          <a:latin typeface="Calibri" panose="020F0502020204030204" pitchFamily="34" charset="0"/>
                        </a:rPr>
                        <a:t>000</a:t>
                      </a:r>
                      <a:r>
                        <a:rPr kumimoji="0" lang="es-AR" sz="1800" b="0" i="0" u="none" strike="noStrike" cap="none" normalizeH="0" baseline="0" smtClean="0">
                          <a:ln>
                            <a:noFill/>
                          </a:ln>
                          <a:solidFill>
                            <a:schemeClr val="tx1"/>
                          </a:solidFill>
                          <a:effectLst/>
                          <a:latin typeface="Calibri" panose="020F0502020204030204" pitchFamily="34" charset="0"/>
                        </a:rPr>
                        <a:t>/29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08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n=3     H=6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192.168.1.00010</a:t>
                      </a:r>
                      <a:r>
                        <a:rPr kumimoji="0" lang="es-AR" sz="1800" b="0" i="0" u="none" strike="noStrike" cap="none" normalizeH="0" baseline="0" smtClean="0">
                          <a:ln>
                            <a:noFill/>
                          </a:ln>
                          <a:solidFill>
                            <a:schemeClr val="accent2"/>
                          </a:solidFill>
                          <a:effectLst/>
                          <a:latin typeface="Calibri" panose="020F0502020204030204" pitchFamily="34" charset="0"/>
                        </a:rPr>
                        <a:t>000</a:t>
                      </a:r>
                      <a:r>
                        <a:rPr kumimoji="0" lang="es-AR" sz="1800" b="0" i="0" u="none" strike="noStrike" cap="none" normalizeH="0" baseline="0" smtClean="0">
                          <a:ln>
                            <a:noFill/>
                          </a:ln>
                          <a:solidFill>
                            <a:schemeClr val="tx1"/>
                          </a:solidFill>
                          <a:effectLst/>
                          <a:latin typeface="Calibri" panose="020F0502020204030204" pitchFamily="34" charset="0"/>
                        </a:rPr>
                        <a:t>/29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4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n=3     H=6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192.168.1.00011</a:t>
                      </a:r>
                      <a:r>
                        <a:rPr kumimoji="0" lang="es-AR" sz="1800" b="0" i="0" u="none" strike="noStrike" cap="none" normalizeH="0" baseline="0" smtClean="0">
                          <a:ln>
                            <a:noFill/>
                          </a:ln>
                          <a:solidFill>
                            <a:schemeClr val="accent2"/>
                          </a:solidFill>
                          <a:effectLst/>
                          <a:latin typeface="Calibri" panose="020F0502020204030204" pitchFamily="34" charset="0"/>
                        </a:rPr>
                        <a:t>000</a:t>
                      </a:r>
                      <a:r>
                        <a:rPr kumimoji="0" lang="es-AR" sz="1800" b="0" i="0" u="none" strike="noStrike" cap="none" normalizeH="0" baseline="0" smtClean="0">
                          <a:ln>
                            <a:noFill/>
                          </a:ln>
                          <a:solidFill>
                            <a:schemeClr val="tx1"/>
                          </a:solidFill>
                          <a:effectLst/>
                          <a:latin typeface="Calibri" panose="020F0502020204030204" pitchFamily="34" charset="0"/>
                        </a:rPr>
                        <a:t>/29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24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S5</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n=2     H=2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192.168.1.001000</a:t>
                      </a:r>
                      <a:r>
                        <a:rPr kumimoji="0" lang="es-AR" sz="1800" b="0" i="0" u="none" strike="noStrike" cap="none" normalizeH="0" baseline="0" smtClean="0">
                          <a:ln>
                            <a:noFill/>
                          </a:ln>
                          <a:solidFill>
                            <a:schemeClr val="accent2"/>
                          </a:solidFill>
                          <a:effectLst/>
                          <a:latin typeface="Calibri" panose="020F0502020204030204" pitchFamily="34" charset="0"/>
                        </a:rPr>
                        <a:t>00</a:t>
                      </a: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08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n=2     H=2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192.168.1.001001</a:t>
                      </a:r>
                      <a:r>
                        <a:rPr kumimoji="0" lang="es-AR" sz="1800" b="0" i="0" u="none" strike="noStrike" cap="none" normalizeH="0" baseline="0" smtClean="0">
                          <a:ln>
                            <a:noFill/>
                          </a:ln>
                          <a:solidFill>
                            <a:schemeClr val="accent2"/>
                          </a:solidFill>
                          <a:effectLst/>
                          <a:latin typeface="Calibri" panose="020F0502020204030204" pitchFamily="34" charset="0"/>
                        </a:rPr>
                        <a:t>00</a:t>
                      </a: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4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S7</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n=2     H=2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192.168.1.001010</a:t>
                      </a:r>
                      <a:r>
                        <a:rPr kumimoji="0" lang="es-AR" sz="1800" b="0" i="0" u="none" strike="noStrike" cap="none" normalizeH="0" baseline="0" smtClean="0">
                          <a:ln>
                            <a:noFill/>
                          </a:ln>
                          <a:solidFill>
                            <a:schemeClr val="accent2"/>
                          </a:solidFill>
                          <a:effectLst/>
                          <a:latin typeface="Calibri" panose="020F0502020204030204" pitchFamily="34" charset="0"/>
                        </a:rPr>
                        <a:t>00</a:t>
                      </a: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08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n=2     H=2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192.168.1.001011</a:t>
                      </a:r>
                      <a:r>
                        <a:rPr kumimoji="0" lang="es-AR" sz="1800" b="0" i="0" u="none" strike="noStrike" cap="none" normalizeH="0" baseline="0" smtClean="0">
                          <a:ln>
                            <a:noFill/>
                          </a:ln>
                          <a:solidFill>
                            <a:schemeClr val="accent2"/>
                          </a:solidFill>
                          <a:effectLst/>
                          <a:latin typeface="Calibri" panose="020F0502020204030204" pitchFamily="34" charset="0"/>
                        </a:rPr>
                        <a:t>00</a:t>
                      </a:r>
                      <a:r>
                        <a:rPr kumimoji="0" lang="es-AR" sz="1800" b="0" i="0" u="none" strike="noStrike" cap="none" normalizeH="0" baseline="0" smtClean="0">
                          <a:ln>
                            <a:noFill/>
                          </a:ln>
                          <a:solidFill>
                            <a:schemeClr val="tx1"/>
                          </a:solidFill>
                          <a:effectLst/>
                          <a:latin typeface="Calibri" panose="020F0502020204030204" pitchFamily="34" charset="0"/>
                        </a:rPr>
                        <a:t>/30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54025">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s-ES"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c h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TOTAL</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1 Título"/>
          <p:cNvSpPr>
            <a:spLocks noGrp="1"/>
          </p:cNvSpPr>
          <p:nvPr>
            <p:ph type="title"/>
          </p:nvPr>
        </p:nvSpPr>
        <p:spPr>
          <a:ln/>
        </p:spPr>
        <p:txBody>
          <a:bodyPr vert="horz" wrap="square" lIns="91440" tIns="45720" rIns="91440" bIns="45720" anchor="ctr" anchorCtr="0"/>
          <a:p>
            <a:r>
              <a:rPr dirty="0"/>
              <a:t>VLSM</a:t>
            </a:r>
            <a:endParaRPr dirty="0"/>
          </a:p>
        </p:txBody>
      </p:sp>
      <p:graphicFrame>
        <p:nvGraphicFramePr>
          <p:cNvPr id="4" name="3 Marcador de contenido"/>
          <p:cNvGraphicFramePr>
            <a:graphicFrameLocks noGrp="1"/>
          </p:cNvGraphicFramePr>
          <p:nvPr>
            <p:ph idx="1"/>
          </p:nvPr>
        </p:nvGraphicFramePr>
        <p:xfrm>
          <a:off x="468313" y="1628775"/>
          <a:ext cx="7283450" cy="3708400"/>
        </p:xfrm>
        <a:graphic>
          <a:graphicData uri="http://schemas.openxmlformats.org/drawingml/2006/table">
            <a:tbl>
              <a:tblPr/>
              <a:tblGrid>
                <a:gridCol w="1371600"/>
                <a:gridCol w="1951037"/>
                <a:gridCol w="1439863"/>
                <a:gridCol w="1081087"/>
                <a:gridCol w="1439863"/>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NOMBRE</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RED</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DIPONIBLES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USADAS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1" i="0" u="none" strike="noStrike" cap="none" normalizeH="0" baseline="0" smtClean="0">
                          <a:ln>
                            <a:noFill/>
                          </a:ln>
                          <a:solidFill>
                            <a:schemeClr val="tx1"/>
                          </a:solidFill>
                          <a:effectLst/>
                          <a:latin typeface="Calibri" panose="020F0502020204030204" pitchFamily="34" charset="0"/>
                        </a:rPr>
                        <a:t>NO  USADAS</a:t>
                      </a:r>
                      <a:endParaRPr kumimoji="0" lang="es-AR" sz="1800" b="1"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S1</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192.168.1.0/29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192.168.1.8/29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192.168.1.16/29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S4</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192.168.1.24/29</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3</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S5</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192.168.1.32/30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S6</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192.168.1,40/30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S7</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192.168.1.48/30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S8</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192.168.1.56/30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2</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71475">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s-ES"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c h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TOTAL</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s-AR" sz="1800" b="0" i="0" u="none" strike="noStrike" cap="none" normalizeH="0" baseline="0" smtClean="0">
                          <a:ln>
                            <a:noFill/>
                          </a:ln>
                          <a:solidFill>
                            <a:schemeClr val="tx1"/>
                          </a:solidFill>
                          <a:effectLst/>
                          <a:latin typeface="Calibri" panose="020F0502020204030204" pitchFamily="34" charset="0"/>
                        </a:rPr>
                        <a:t>10</a:t>
                      </a:r>
                      <a:endParaRPr kumimoji="0" lang="es-AR" sz="1800" b="0" i="0" u="none" strike="noStrike" cap="none" normalizeH="0" baseline="0" smtClean="0">
                        <a:ln>
                          <a:noFill/>
                        </a:ln>
                        <a:solidFill>
                          <a:schemeClr val="tx1"/>
                        </a:solidFill>
                        <a:effectLst/>
                        <a:latin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11033</Words>
  <Application>WPS Presentation</Application>
  <PresentationFormat>On-screen Show (4:3)</PresentationFormat>
  <Paragraphs>588</Paragraphs>
  <Slides>38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Arial</vt:lpstr>
      <vt:lpstr>SimSun</vt:lpstr>
      <vt:lpstr>Wingdings</vt:lpstr>
      <vt:lpstr>Calibri</vt:lpstr>
      <vt:lpstr>Microsoft YaHei</vt:lpstr>
      <vt:lpstr>Arial Unicode MS</vt:lpstr>
      <vt:lpstr>Tema de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alumno</dc:creator>
  <cp:lastModifiedBy>usuario</cp:lastModifiedBy>
  <cp:revision>66</cp:revision>
  <dcterms:created xsi:type="dcterms:W3CDTF">2016-03-10T21:38:46Z</dcterms:created>
  <dcterms:modified xsi:type="dcterms:W3CDTF">2026-03-11T21:00:51Z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50C7F5CF36864993864913EA8495879F_13</vt:lpwstr>
  </property>
  <property fmtid="{D5CDD505-2E9C-101B-9397-08002B2CF9AE}" pid="3" name="KSOProductBuildVer">
    <vt:lpwstr>3082-12.2.0.23196</vt:lpwstr>
  </property>
</Properties>
</file>