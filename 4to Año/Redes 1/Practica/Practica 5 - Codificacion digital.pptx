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3"/>
    <p:sldId id="257" r:id="rId4"/>
    <p:sldId id="263" r:id="rId5"/>
    <p:sldId id="265" r:id="rId6"/>
    <p:sldId id="264" r:id="rId7"/>
    <p:sldId id="266" r:id="rId8"/>
    <p:sldId id="258" r:id="rId9"/>
    <p:sldId id="259" r:id="rId10"/>
    <p:sldId id="260" r:id="rId11"/>
    <p:sldId id="261" r:id="rId12"/>
    <p:sldId id="262" r:id="rId13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</p:sldIdLst>
  <p:sldSz cx="9144000" cy="6858000" type="screen4x3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108" d="100"/>
          <a:sy n="108" d="100"/>
        </p:scale>
        <p:origin x="528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E707F3-F238-4386-83E4-B152D36F9806}" type="datetimeFigureOut">
              <a:rPr lang="es-AR" smtClean="0"/>
            </a:fld>
            <a:endParaRPr lang="es-AR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21C2B1-0CAE-4D6E-8EE7-E48369AB676D}" type="slidenum">
              <a:rPr lang="es-AR" smtClean="0"/>
            </a:fld>
            <a:endParaRPr lang="es-A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AR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21C2B1-0CAE-4D6E-8EE7-E48369AB676D}" type="slidenum">
              <a:rPr lang="es-AR" smtClean="0"/>
            </a:fld>
            <a:endParaRPr lang="es-A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Subtítulo"/>
          <p:cNvSpPr>
            <a:spLocks noGrp="1"/>
          </p:cNvSpPr>
          <p:nvPr>
            <p:ph type="subTitle" idx="1" hasCustomPrompt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2ADD0-8323-461C-81EC-BEA43FE5FD1D}" type="datetimeFigureOut">
              <a:rPr lang="es-AR" smtClean="0"/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77197-D9DA-4CB1-BF34-B898598957CC}" type="slidenum">
              <a:rPr lang="es-AR" smtClean="0"/>
            </a:fld>
            <a:endParaRPr lang="es-A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2ADD0-8323-461C-81EC-BEA43FE5FD1D}" type="datetimeFigureOut">
              <a:rPr lang="es-AR" smtClean="0"/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77197-D9DA-4CB1-BF34-B898598957CC}" type="slidenum">
              <a:rPr lang="es-AR" smtClean="0"/>
            </a:fld>
            <a:endParaRPr lang="es-A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 hasCustomPrompt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2ADD0-8323-461C-81EC-BEA43FE5FD1D}" type="datetimeFigureOut">
              <a:rPr lang="es-AR" smtClean="0"/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77197-D9DA-4CB1-BF34-B898598957CC}" type="slidenum">
              <a:rPr lang="es-AR" smtClean="0"/>
            </a:fld>
            <a:endParaRPr lang="es-A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 hasCustomPrompt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 hasCustomPrompt="1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2ADD0-8323-461C-81EC-BEA43FE5FD1D}" type="datetimeFigureOut">
              <a:rPr lang="es-AR" smtClean="0"/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77197-D9DA-4CB1-BF34-B898598957CC}" type="slidenum">
              <a:rPr lang="es-AR" smtClean="0"/>
            </a:fld>
            <a:endParaRPr lang="es-A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  <a:endParaRPr lang="es-ES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 hasCustomPrompt="1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2ADD0-8323-461C-81EC-BEA43FE5FD1D}" type="datetimeFigureOut">
              <a:rPr lang="es-AR" smtClean="0"/>
            </a:fld>
            <a:endParaRPr lang="es-AR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77197-D9DA-4CB1-BF34-B898598957CC}" type="slidenum">
              <a:rPr lang="es-AR" smtClean="0"/>
            </a:fld>
            <a:endParaRPr lang="es-A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2ADD0-8323-461C-81EC-BEA43FE5FD1D}" type="datetimeFigureOut">
              <a:rPr lang="es-AR" smtClean="0"/>
            </a:fld>
            <a:endParaRPr lang="es-AR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77197-D9DA-4CB1-BF34-B898598957CC}" type="slidenum">
              <a:rPr lang="es-AR" smtClean="0"/>
            </a:fld>
            <a:endParaRPr lang="es-A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2ADD0-8323-461C-81EC-BEA43FE5FD1D}" type="datetimeFigureOut">
              <a:rPr lang="es-AR" smtClean="0"/>
            </a:fld>
            <a:endParaRPr lang="es-AR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77197-D9DA-4CB1-BF34-B898598957CC}" type="slidenum">
              <a:rPr lang="es-AR" smtClean="0"/>
            </a:fld>
            <a:endParaRPr lang="es-A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 hasCustomPrompt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 hasCustomPrompt="1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  <a:endParaRPr lang="es-E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2ADD0-8323-461C-81EC-BEA43FE5FD1D}" type="datetimeFigureOut">
              <a:rPr lang="es-AR" smtClean="0"/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77197-D9DA-4CB1-BF34-B898598957CC}" type="slidenum">
              <a:rPr lang="es-AR" smtClean="0"/>
            </a:fld>
            <a:endParaRPr lang="es-A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 hasCustomPrompt="1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  <a:endParaRPr lang="es-E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2ADD0-8323-461C-81EC-BEA43FE5FD1D}" type="datetimeFigureOut">
              <a:rPr lang="es-AR" smtClean="0"/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77197-D9DA-4CB1-BF34-B898598957CC}" type="slidenum">
              <a:rPr lang="es-AR" smtClean="0"/>
            </a:fld>
            <a:endParaRPr lang="es-A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2ADD0-8323-461C-81EC-BEA43FE5FD1D}" type="datetimeFigureOut">
              <a:rPr lang="es-AR" smtClean="0"/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77197-D9DA-4CB1-BF34-B898598957CC}" type="slidenum">
              <a:rPr lang="es-AR" smtClean="0"/>
            </a:fld>
            <a:endParaRPr lang="es-A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 hasCustomPrompt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2ADD0-8323-461C-81EC-BEA43FE5FD1D}" type="datetimeFigureOut">
              <a:rPr lang="es-AR" smtClean="0"/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77197-D9DA-4CB1-BF34-B898598957CC}" type="slidenum">
              <a:rPr lang="es-AR" smtClean="0"/>
            </a:fld>
            <a:endParaRPr lang="es-A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E2ADD0-8323-461C-81EC-BEA43FE5FD1D}" type="datetimeFigureOut">
              <a:rPr lang="es-AR" smtClean="0"/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977197-D9DA-4CB1-BF34-B898598957CC}" type="slidenum">
              <a:rPr lang="es-AR" smtClean="0"/>
            </a:fld>
            <a:endParaRPr lang="es-A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1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5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7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8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9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0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395536" y="404664"/>
            <a:ext cx="8136904" cy="1296144"/>
          </a:xfrm>
        </p:spPr>
        <p:txBody>
          <a:bodyPr>
            <a:normAutofit/>
          </a:bodyPr>
          <a:lstStyle/>
          <a:p>
            <a:r>
              <a:rPr lang="es-AR" sz="2200" dirty="0"/>
              <a:t>Redes y Comunicaciones de Datos Práctica </a:t>
            </a:r>
            <a:r>
              <a:rPr lang="es-AR" sz="2200" dirty="0" err="1"/>
              <a:t>Nº</a:t>
            </a:r>
            <a:r>
              <a:rPr lang="es-AR" sz="2200" dirty="0"/>
              <a:t> 5 :Marcelo T. Gentile, Franco Cian, Gabriel Filippa y </a:t>
            </a:r>
            <a:r>
              <a:rPr lang="es-AR" sz="2200" dirty="0" err="1"/>
              <a:t>Joaquin</a:t>
            </a:r>
            <a:r>
              <a:rPr lang="es-AR" sz="2200" dirty="0"/>
              <a:t> </a:t>
            </a:r>
            <a:r>
              <a:rPr lang="es-AR" sz="2200" dirty="0" err="1"/>
              <a:t>Nepotti</a:t>
            </a:r>
            <a:r>
              <a:rPr lang="es-AR" sz="2200" dirty="0"/>
              <a:t> – Año 2025</a:t>
            </a:r>
            <a:br>
              <a:rPr lang="es-AR" sz="2200" dirty="0"/>
            </a:br>
            <a:r>
              <a:rPr lang="es-AR" sz="2000" dirty="0"/>
              <a:t>Codificación de Datos Digitales, en Señales Digitales: Clasificación</a:t>
            </a:r>
            <a:endParaRPr lang="es-AR" sz="20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51520" y="1700808"/>
            <a:ext cx="8619829" cy="46923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683568" y="1772816"/>
            <a:ext cx="8052759" cy="37444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1 Título"/>
          <p:cNvSpPr txBox="1"/>
          <p:nvPr/>
        </p:nvSpPr>
        <p:spPr>
          <a:xfrm>
            <a:off x="611560" y="404665"/>
            <a:ext cx="7772400" cy="1296144"/>
          </a:xfrm>
          <a:prstGeom prst="rect">
            <a:avLst/>
          </a:prstGeom>
        </p:spPr>
        <p:txBody>
          <a:bodyPr>
            <a:normAutofit fontScale="7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s-AR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Codificación de Datos Digitales, en Señales Digitales: Codificación</a:t>
            </a:r>
            <a:r>
              <a:rPr kumimoji="0" lang="es-AR" sz="4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de Digital a Digital</a:t>
            </a:r>
            <a:endParaRPr kumimoji="0" lang="es-AR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 txBox="1"/>
          <p:nvPr/>
        </p:nvSpPr>
        <p:spPr>
          <a:xfrm>
            <a:off x="611560" y="548680"/>
            <a:ext cx="7772400" cy="1008111"/>
          </a:xfrm>
          <a:prstGeom prst="rect">
            <a:avLst/>
          </a:prstGeom>
        </p:spPr>
        <p:txBody>
          <a:bodyPr>
            <a:normAutofit fontScale="8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s-AR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Codificación de Datos Digitales, en Señales Digitales: Unipolar</a:t>
            </a:r>
            <a:endParaRPr kumimoji="0" lang="es-AR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55576" y="2276872"/>
            <a:ext cx="7918368" cy="352839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 txBox="1"/>
          <p:nvPr/>
        </p:nvSpPr>
        <p:spPr>
          <a:xfrm>
            <a:off x="611560" y="548680"/>
            <a:ext cx="7772400" cy="1008111"/>
          </a:xfrm>
          <a:prstGeom prst="rect">
            <a:avLst/>
          </a:prstGeom>
        </p:spPr>
        <p:txBody>
          <a:bodyPr>
            <a:normAutofit fontScale="8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s-AR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Codificación de Datos Digitales, en Seña- les Digitales: Unipolar  - Ventajas</a:t>
            </a:r>
            <a:endParaRPr kumimoji="0" lang="es-AR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2 CuadroTexto"/>
          <p:cNvSpPr txBox="1"/>
          <p:nvPr/>
        </p:nvSpPr>
        <p:spPr>
          <a:xfrm>
            <a:off x="1259632" y="2348880"/>
            <a:ext cx="45456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4000" dirty="0"/>
              <a:t>Fácil de implementar</a:t>
            </a:r>
            <a:endParaRPr lang="es-AR" sz="4000" dirty="0"/>
          </a:p>
        </p:txBody>
      </p:sp>
      <p:sp>
        <p:nvSpPr>
          <p:cNvPr id="4" name="3 CuadroTexto"/>
          <p:cNvSpPr txBox="1"/>
          <p:nvPr/>
        </p:nvSpPr>
        <p:spPr>
          <a:xfrm>
            <a:off x="1259632" y="3501008"/>
            <a:ext cx="25798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4000" dirty="0"/>
              <a:t>Económica</a:t>
            </a:r>
            <a:endParaRPr lang="es-AR" sz="4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467544" y="2060848"/>
            <a:ext cx="8194776" cy="36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1 Título"/>
          <p:cNvSpPr txBox="1"/>
          <p:nvPr/>
        </p:nvSpPr>
        <p:spPr>
          <a:xfrm>
            <a:off x="611560" y="548680"/>
            <a:ext cx="7772400" cy="1008111"/>
          </a:xfrm>
          <a:prstGeom prst="rect">
            <a:avLst/>
          </a:prstGeom>
        </p:spPr>
        <p:txBody>
          <a:bodyPr>
            <a:normAutofit fontScale="8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s-AR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Codificación de Datos Digitales, en Señales Digitales: Unipolar</a:t>
            </a:r>
            <a:endParaRPr kumimoji="0" lang="es-AR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 txBox="1"/>
          <p:nvPr/>
        </p:nvSpPr>
        <p:spPr>
          <a:xfrm>
            <a:off x="611560" y="548680"/>
            <a:ext cx="7772400" cy="1008111"/>
          </a:xfrm>
          <a:prstGeom prst="rect">
            <a:avLst/>
          </a:prstGeom>
        </p:spPr>
        <p:txBody>
          <a:bodyPr>
            <a:normAutofit fontScale="8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s-AR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Codificación de Datos Digitales, en Seña- les Digitales: Unipolar  - Desventajas</a:t>
            </a:r>
            <a:endParaRPr kumimoji="0" lang="es-AR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2 CuadroTexto"/>
          <p:cNvSpPr txBox="1"/>
          <p:nvPr/>
        </p:nvSpPr>
        <p:spPr>
          <a:xfrm>
            <a:off x="1259632" y="2348880"/>
            <a:ext cx="781688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4000" dirty="0"/>
              <a:t>Componente de corriente </a:t>
            </a:r>
            <a:endParaRPr lang="es-AR" sz="4000" dirty="0"/>
          </a:p>
          <a:p>
            <a:r>
              <a:rPr lang="es-AR" sz="4000" dirty="0"/>
              <a:t>continua (DC)= Señal de frecuencia 0</a:t>
            </a:r>
            <a:endParaRPr lang="es-AR" sz="4000" dirty="0"/>
          </a:p>
        </p:txBody>
      </p:sp>
      <p:sp>
        <p:nvSpPr>
          <p:cNvPr id="4" name="3 CuadroTexto"/>
          <p:cNvSpPr txBox="1"/>
          <p:nvPr/>
        </p:nvSpPr>
        <p:spPr>
          <a:xfrm>
            <a:off x="1259632" y="4149080"/>
            <a:ext cx="316387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4000" dirty="0"/>
              <a:t>Sincronización</a:t>
            </a:r>
            <a:endParaRPr lang="es-AR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 txBox="1"/>
          <p:nvPr/>
        </p:nvSpPr>
        <p:spPr>
          <a:xfrm>
            <a:off x="611560" y="404665"/>
            <a:ext cx="7772400" cy="1296144"/>
          </a:xfrm>
          <a:prstGeom prst="rect">
            <a:avLst/>
          </a:prstGeom>
        </p:spPr>
        <p:txBody>
          <a:bodyPr>
            <a:normAutofit fontScale="90000"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s-AR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Codificación de Datos Digitales, en Señales Digitales: Codificación</a:t>
            </a:r>
            <a:r>
              <a:rPr kumimoji="0" lang="es-AR" sz="4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Polar</a:t>
            </a:r>
            <a:endParaRPr kumimoji="0" lang="es-AR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827584" y="1916832"/>
            <a:ext cx="7331818" cy="418785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899592" y="1628800"/>
            <a:ext cx="7488832" cy="5005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4" name="1 Título"/>
          <p:cNvSpPr txBox="1"/>
          <p:nvPr/>
        </p:nvSpPr>
        <p:spPr>
          <a:xfrm>
            <a:off x="611560" y="404665"/>
            <a:ext cx="7772400" cy="1296144"/>
          </a:xfrm>
          <a:prstGeom prst="rect">
            <a:avLst/>
          </a:prstGeom>
        </p:spPr>
        <p:txBody>
          <a:bodyPr>
            <a:normAutofit fontScale="90000"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s-AR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Codificación de Datos Digitales, en Señales Digitales: NRZ</a:t>
            </a:r>
            <a:endParaRPr kumimoji="0" lang="es-AR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683568" y="1412776"/>
            <a:ext cx="7864542" cy="463941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4" name="1 Título"/>
          <p:cNvSpPr txBox="1"/>
          <p:nvPr/>
        </p:nvSpPr>
        <p:spPr>
          <a:xfrm>
            <a:off x="611560" y="260648"/>
            <a:ext cx="7772400" cy="1008111"/>
          </a:xfrm>
          <a:prstGeom prst="rect">
            <a:avLst/>
          </a:prstGeom>
        </p:spPr>
        <p:txBody>
          <a:bodyPr>
            <a:normAutofit fontScale="8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s-AR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Codificación de Datos Digitales, en Señales Digitales: RZ</a:t>
            </a:r>
            <a:endParaRPr kumimoji="0" lang="es-AR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55576" y="1916832"/>
            <a:ext cx="7666329" cy="415473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3" name="1 Título"/>
          <p:cNvSpPr txBox="1"/>
          <p:nvPr/>
        </p:nvSpPr>
        <p:spPr>
          <a:xfrm>
            <a:off x="611560" y="548680"/>
            <a:ext cx="7772400" cy="1008111"/>
          </a:xfrm>
          <a:prstGeom prst="rect">
            <a:avLst/>
          </a:prstGeom>
        </p:spPr>
        <p:txBody>
          <a:bodyPr>
            <a:normAutofit fontScale="8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s-AR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Codificación de Datos Digitales, en Señales Digitales: </a:t>
            </a:r>
            <a:r>
              <a:rPr kumimoji="0" lang="es-AR" sz="4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Bifase</a:t>
            </a:r>
            <a:endParaRPr kumimoji="0" lang="es-AR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899592" y="1556791"/>
            <a:ext cx="7560840" cy="48893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3" name="1 Título"/>
          <p:cNvSpPr txBox="1"/>
          <p:nvPr/>
        </p:nvSpPr>
        <p:spPr>
          <a:xfrm>
            <a:off x="899592" y="548681"/>
            <a:ext cx="7560840" cy="936104"/>
          </a:xfrm>
          <a:prstGeom prst="rect">
            <a:avLst/>
          </a:prstGeom>
        </p:spPr>
        <p:txBody>
          <a:bodyPr>
            <a:normAutofit fontScale="7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s-AR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Codificación de Datos Digitales, en Señales Digitales: </a:t>
            </a:r>
            <a:r>
              <a:rPr kumimoji="0" lang="es-AR" sz="4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Bifase</a:t>
            </a:r>
            <a:endParaRPr kumimoji="0" lang="es-AR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 txBox="1"/>
          <p:nvPr/>
        </p:nvSpPr>
        <p:spPr>
          <a:xfrm>
            <a:off x="899592" y="548681"/>
            <a:ext cx="7560840" cy="936104"/>
          </a:xfrm>
          <a:prstGeom prst="rect">
            <a:avLst/>
          </a:prstGeom>
        </p:spPr>
        <p:txBody>
          <a:bodyPr>
            <a:normAutofit fontScale="7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s-AR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Codificación de Datos Digitales, en Señales Digitales: Bipolar</a:t>
            </a:r>
            <a:endParaRPr kumimoji="0" lang="es-AR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043608" y="1772816"/>
            <a:ext cx="7228411" cy="431212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 txBox="1"/>
          <p:nvPr/>
        </p:nvSpPr>
        <p:spPr>
          <a:xfrm>
            <a:off x="899592" y="548681"/>
            <a:ext cx="7560840" cy="936104"/>
          </a:xfrm>
          <a:prstGeom prst="rect">
            <a:avLst/>
          </a:prstGeom>
        </p:spPr>
        <p:txBody>
          <a:bodyPr>
            <a:normAutofit fontScale="7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s-AR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Codificación de Datos Digitales, en Señales Digitales: Bipolar</a:t>
            </a:r>
            <a:endParaRPr kumimoji="0" lang="es-AR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899592" y="1556792"/>
            <a:ext cx="7355061" cy="50880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 txBox="1"/>
          <p:nvPr/>
        </p:nvSpPr>
        <p:spPr>
          <a:xfrm>
            <a:off x="899592" y="548681"/>
            <a:ext cx="7560840" cy="936104"/>
          </a:xfrm>
          <a:prstGeom prst="rect">
            <a:avLst/>
          </a:prstGeom>
        </p:spPr>
        <p:txBody>
          <a:bodyPr>
            <a:normAutofit fontScale="7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s-AR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Codificación de Datos Digitales, en Señales Digitales: Bipolar - AMI</a:t>
            </a:r>
            <a:endParaRPr kumimoji="0" lang="es-AR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929808" y="1628800"/>
            <a:ext cx="7339547" cy="4536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971600" y="1268760"/>
            <a:ext cx="7374725" cy="490406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3" name="1 Título"/>
          <p:cNvSpPr txBox="1"/>
          <p:nvPr/>
        </p:nvSpPr>
        <p:spPr>
          <a:xfrm>
            <a:off x="899592" y="260648"/>
            <a:ext cx="7560840" cy="864096"/>
          </a:xfrm>
          <a:prstGeom prst="rect">
            <a:avLst/>
          </a:prstGeom>
        </p:spPr>
        <p:txBody>
          <a:bodyPr>
            <a:normAutofit fontScale="67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s-AR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Codificación de Datos Digitales, en Señales Digitales: Bipolar – B8ZS</a:t>
            </a:r>
            <a:endParaRPr kumimoji="0" lang="es-AR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55576" y="1988840"/>
            <a:ext cx="7441978" cy="360861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3" name="1 Título"/>
          <p:cNvSpPr txBox="1"/>
          <p:nvPr/>
        </p:nvSpPr>
        <p:spPr>
          <a:xfrm>
            <a:off x="899592" y="476672"/>
            <a:ext cx="7560840" cy="864096"/>
          </a:xfrm>
          <a:prstGeom prst="rect">
            <a:avLst/>
          </a:prstGeom>
        </p:spPr>
        <p:txBody>
          <a:bodyPr>
            <a:normAutofit fontScale="67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s-AR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Codificación de Datos Digitales, en Señales Digitales: Bipolar – B8ZS - Ejemplos</a:t>
            </a:r>
            <a:endParaRPr kumimoji="0" lang="es-AR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467544" y="1916832"/>
            <a:ext cx="8231684" cy="403244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4" name="1 Título"/>
          <p:cNvSpPr txBox="1"/>
          <p:nvPr/>
        </p:nvSpPr>
        <p:spPr>
          <a:xfrm>
            <a:off x="899592" y="476672"/>
            <a:ext cx="7560840" cy="864096"/>
          </a:xfrm>
          <a:prstGeom prst="rect">
            <a:avLst/>
          </a:prstGeom>
        </p:spPr>
        <p:txBody>
          <a:bodyPr>
            <a:normAutofit fontScale="67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s-AR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Codificación de Datos Digitales, en Señales Digitales: Bipolar – HDB3</a:t>
            </a:r>
            <a:endParaRPr kumimoji="0" lang="es-AR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971600" y="1628800"/>
            <a:ext cx="7488832" cy="452450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4" name="1 Título"/>
          <p:cNvSpPr txBox="1"/>
          <p:nvPr/>
        </p:nvSpPr>
        <p:spPr>
          <a:xfrm>
            <a:off x="899592" y="476672"/>
            <a:ext cx="7560840" cy="864096"/>
          </a:xfrm>
          <a:prstGeom prst="rect">
            <a:avLst/>
          </a:prstGeom>
        </p:spPr>
        <p:txBody>
          <a:bodyPr>
            <a:normAutofit fontScale="67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s-AR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Codificación de Datos Digitales, en Señales Digitales: Bipolar – HDB3 – </a:t>
            </a:r>
            <a:r>
              <a:rPr kumimoji="0" lang="es-AR" sz="4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Caracter</a:t>
            </a:r>
            <a:r>
              <a:rPr lang="es-AR" sz="4400" dirty="0">
                <a:latin typeface="+mj-lt"/>
                <a:ea typeface="+mj-ea"/>
                <a:cs typeface="+mj-cs"/>
              </a:rPr>
              <a:t>í</a:t>
            </a:r>
            <a:r>
              <a:rPr kumimoji="0" lang="es-AR" sz="4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sticas</a:t>
            </a:r>
            <a:endParaRPr kumimoji="0" lang="es-AR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 txBox="1"/>
          <p:nvPr/>
        </p:nvSpPr>
        <p:spPr>
          <a:xfrm>
            <a:off x="899592" y="476672"/>
            <a:ext cx="7560840" cy="864096"/>
          </a:xfrm>
          <a:prstGeom prst="rect">
            <a:avLst/>
          </a:prstGeom>
        </p:spPr>
        <p:txBody>
          <a:bodyPr>
            <a:normAutofit fontScale="67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s-AR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Codificación de Datos Digitales, en Señales Digitales: Bipolar – HDB3 – Explicación</a:t>
            </a:r>
            <a:endParaRPr kumimoji="0" lang="es-AR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55576" y="1844824"/>
            <a:ext cx="7921146" cy="410445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827584" y="1628800"/>
            <a:ext cx="7955203" cy="4176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1 Título"/>
          <p:cNvSpPr txBox="1"/>
          <p:nvPr/>
        </p:nvSpPr>
        <p:spPr>
          <a:xfrm>
            <a:off x="899592" y="476672"/>
            <a:ext cx="7560840" cy="864096"/>
          </a:xfrm>
          <a:prstGeom prst="rect">
            <a:avLst/>
          </a:prstGeom>
        </p:spPr>
        <p:txBody>
          <a:bodyPr>
            <a:normAutofit fontScale="67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s-AR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Codificación de Datos Digitales, en Señales Digitales: Bipolar – HDB3 – Explicación</a:t>
            </a:r>
            <a:endParaRPr kumimoji="0" lang="es-AR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187624" y="1628800"/>
            <a:ext cx="6856070" cy="409780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3" name="1 Título"/>
          <p:cNvSpPr txBox="1"/>
          <p:nvPr/>
        </p:nvSpPr>
        <p:spPr>
          <a:xfrm>
            <a:off x="899592" y="476672"/>
            <a:ext cx="7560840" cy="864096"/>
          </a:xfrm>
          <a:prstGeom prst="rect">
            <a:avLst/>
          </a:prstGeom>
        </p:spPr>
        <p:txBody>
          <a:bodyPr>
            <a:normAutofit fontScale="67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s-AR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Codificación de Datos Digitales, en Señales Digitales: Bipolar – HDB3 – Reglas</a:t>
            </a:r>
            <a:endParaRPr kumimoji="0" lang="es-AR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043608" y="1131912"/>
            <a:ext cx="6192688" cy="39229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1 Título"/>
          <p:cNvSpPr txBox="1"/>
          <p:nvPr/>
        </p:nvSpPr>
        <p:spPr>
          <a:xfrm>
            <a:off x="1043608" y="260648"/>
            <a:ext cx="7416824" cy="864096"/>
          </a:xfrm>
          <a:prstGeom prst="rect">
            <a:avLst/>
          </a:prstGeom>
        </p:spPr>
        <p:txBody>
          <a:bodyPr>
            <a:normAutofit fontScale="67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s-AR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Codificación de Datos Digitales, en Señales Digitales: Bipolar – HDB3 – Ejercicios</a:t>
            </a:r>
            <a:endParaRPr kumimoji="0" lang="es-AR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3608" y="5157192"/>
            <a:ext cx="3467100" cy="1276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386216" y="1495425"/>
            <a:ext cx="6354135" cy="38777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1 Título"/>
          <p:cNvSpPr txBox="1"/>
          <p:nvPr/>
        </p:nvSpPr>
        <p:spPr>
          <a:xfrm>
            <a:off x="1043608" y="404664"/>
            <a:ext cx="7416824" cy="864096"/>
          </a:xfrm>
          <a:prstGeom prst="rect">
            <a:avLst/>
          </a:prstGeom>
        </p:spPr>
        <p:txBody>
          <a:bodyPr>
            <a:normAutofit fontScale="67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s-AR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Codificación de Datos Digitales, en Señales Digitales: Bipolar – HDB3 – Ejercicios</a:t>
            </a:r>
            <a:endParaRPr kumimoji="0" lang="es-AR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03648" y="5373216"/>
            <a:ext cx="3467100" cy="1276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 txBox="1"/>
          <p:nvPr/>
        </p:nvSpPr>
        <p:spPr>
          <a:xfrm>
            <a:off x="1043608" y="404664"/>
            <a:ext cx="7416824" cy="864096"/>
          </a:xfrm>
          <a:prstGeom prst="rect">
            <a:avLst/>
          </a:prstGeom>
        </p:spPr>
        <p:txBody>
          <a:bodyPr>
            <a:normAutofit fontScale="67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s-AR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Codificación de Datos Digitales, en Señales Digitales: Ejercicios</a:t>
            </a:r>
            <a:endParaRPr kumimoji="0" lang="es-AR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2 Rectángulo"/>
          <p:cNvSpPr/>
          <p:nvPr/>
        </p:nvSpPr>
        <p:spPr>
          <a:xfrm>
            <a:off x="1115616" y="1412776"/>
            <a:ext cx="72008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2000" dirty="0"/>
              <a:t>Encuentre el flujo de 8 bits de datos, para cada caso mostrado en la Figura </a:t>
            </a:r>
            <a:r>
              <a:rPr lang="es-AR" sz="2000" dirty="0" err="1"/>
              <a:t>a,b</a:t>
            </a:r>
            <a:r>
              <a:rPr lang="es-AR" sz="2000" dirty="0"/>
              <a:t> y c</a:t>
            </a:r>
            <a:endParaRPr lang="es-AR" sz="2000" dirty="0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971600" y="2132856"/>
            <a:ext cx="7488832" cy="29501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5 Rectángulo"/>
          <p:cNvSpPr/>
          <p:nvPr/>
        </p:nvSpPr>
        <p:spPr>
          <a:xfrm>
            <a:off x="1547664" y="5373216"/>
            <a:ext cx="640871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2800" dirty="0"/>
              <a:t>Solución. a. NRZ-I: 10011001. </a:t>
            </a:r>
            <a:endParaRPr lang="es-AR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 txBox="1"/>
          <p:nvPr/>
        </p:nvSpPr>
        <p:spPr>
          <a:xfrm>
            <a:off x="1043608" y="404664"/>
            <a:ext cx="7416824" cy="864096"/>
          </a:xfrm>
          <a:prstGeom prst="rect">
            <a:avLst/>
          </a:prstGeom>
        </p:spPr>
        <p:txBody>
          <a:bodyPr>
            <a:normAutofit fontScale="67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s-AR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Codificación de Datos Digitales, en Señales Digitales: Ejercicios</a:t>
            </a:r>
            <a:endParaRPr kumimoji="0" lang="es-AR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611560" y="1268760"/>
            <a:ext cx="7797265" cy="30477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3 Rectángulo"/>
          <p:cNvSpPr/>
          <p:nvPr/>
        </p:nvSpPr>
        <p:spPr>
          <a:xfrm>
            <a:off x="899592" y="4941168"/>
            <a:ext cx="722710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800" dirty="0"/>
              <a:t>Solución: b. </a:t>
            </a:r>
            <a:r>
              <a:rPr lang="es-AR" sz="2800" dirty="0" err="1"/>
              <a:t>Differential</a:t>
            </a:r>
            <a:r>
              <a:rPr lang="es-AR" sz="2800" dirty="0"/>
              <a:t> Manchester: 11000100. </a:t>
            </a:r>
            <a:endParaRPr lang="es-AR" sz="2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 txBox="1"/>
          <p:nvPr/>
        </p:nvSpPr>
        <p:spPr>
          <a:xfrm>
            <a:off x="1043608" y="404664"/>
            <a:ext cx="7416824" cy="864096"/>
          </a:xfrm>
          <a:prstGeom prst="rect">
            <a:avLst/>
          </a:prstGeom>
        </p:spPr>
        <p:txBody>
          <a:bodyPr>
            <a:normAutofit fontScale="67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s-AR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Codificación de Datos Digitales, en Señales Digitales: Ejercicios</a:t>
            </a:r>
            <a:endParaRPr kumimoji="0" lang="es-AR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403647" y="1628800"/>
            <a:ext cx="6813609" cy="2664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3 Rectángulo"/>
          <p:cNvSpPr/>
          <p:nvPr/>
        </p:nvSpPr>
        <p:spPr>
          <a:xfrm>
            <a:off x="1691680" y="5085184"/>
            <a:ext cx="417133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800" dirty="0"/>
              <a:t>Solución: c. AMI: 01110001</a:t>
            </a:r>
            <a:endParaRPr lang="es-AR" sz="2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 txBox="1"/>
          <p:nvPr/>
        </p:nvSpPr>
        <p:spPr>
          <a:xfrm>
            <a:off x="1043608" y="404664"/>
            <a:ext cx="7416824" cy="864096"/>
          </a:xfrm>
          <a:prstGeom prst="rect">
            <a:avLst/>
          </a:prstGeom>
        </p:spPr>
        <p:txBody>
          <a:bodyPr>
            <a:normAutofit fontScale="67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s-AR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Codificación de Datos Digitales, en Señales Digitales: Ejercicios</a:t>
            </a:r>
            <a:endParaRPr kumimoji="0" lang="es-AR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459797"/>
            <a:ext cx="9144000" cy="3099079"/>
          </a:xfrm>
          <a:prstGeom prst="rect">
            <a:avLst/>
          </a:prstGeom>
        </p:spPr>
      </p:pic>
      <p:sp>
        <p:nvSpPr>
          <p:cNvPr id="4" name="CuadroTexto 3"/>
          <p:cNvSpPr txBox="1"/>
          <p:nvPr/>
        </p:nvSpPr>
        <p:spPr>
          <a:xfrm>
            <a:off x="755576" y="1442098"/>
            <a:ext cx="741831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dirty="0"/>
              <a:t>Determinar de la graficas codificadas siguientes la cadena </a:t>
            </a:r>
            <a:endParaRPr lang="es-AR" sz="2400" dirty="0"/>
          </a:p>
          <a:p>
            <a:r>
              <a:rPr lang="es-AR" sz="2400" dirty="0"/>
              <a:t>de unos y ceros y que clase de codificación </a:t>
            </a:r>
            <a:r>
              <a:rPr lang="es-AR" sz="2400"/>
              <a:t>se utiliza</a:t>
            </a:r>
            <a:endParaRPr lang="es-AR" sz="2400" dirty="0"/>
          </a:p>
        </p:txBody>
      </p:sp>
      <p:sp>
        <p:nvSpPr>
          <p:cNvPr id="5" name="CuadroTexto 4"/>
          <p:cNvSpPr txBox="1"/>
          <p:nvPr/>
        </p:nvSpPr>
        <p:spPr>
          <a:xfrm>
            <a:off x="683568" y="6161076"/>
            <a:ext cx="22669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/>
              <a:t>Solución: 1100111100</a:t>
            </a:r>
            <a:endParaRPr lang="es-AR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1 Título"/>
          <p:cNvSpPr txBox="1"/>
          <p:nvPr/>
        </p:nvSpPr>
        <p:spPr>
          <a:xfrm>
            <a:off x="755576" y="404664"/>
            <a:ext cx="7416824" cy="864096"/>
          </a:xfrm>
          <a:prstGeom prst="rect">
            <a:avLst/>
          </a:prstGeom>
        </p:spPr>
        <p:txBody>
          <a:bodyPr>
            <a:normAutofit fontScale="67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s-AR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Codificación de Datos Digitales, en Señales Digitales: Ejercicios</a:t>
            </a:r>
            <a:endParaRPr kumimoji="0" lang="es-AR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915067"/>
            <a:ext cx="9144000" cy="3027865"/>
          </a:xfrm>
          <a:prstGeom prst="rect">
            <a:avLst/>
          </a:prstGeom>
        </p:spPr>
      </p:pic>
      <p:sp>
        <p:nvSpPr>
          <p:cNvPr id="7" name="CuadroTexto 6"/>
          <p:cNvSpPr txBox="1"/>
          <p:nvPr/>
        </p:nvSpPr>
        <p:spPr>
          <a:xfrm>
            <a:off x="899592" y="5733256"/>
            <a:ext cx="23310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/>
              <a:t>Solución:10101111000</a:t>
            </a:r>
            <a:endParaRPr lang="es-AR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 txBox="1"/>
          <p:nvPr/>
        </p:nvSpPr>
        <p:spPr>
          <a:xfrm>
            <a:off x="755576" y="404664"/>
            <a:ext cx="7416824" cy="864096"/>
          </a:xfrm>
          <a:prstGeom prst="rect">
            <a:avLst/>
          </a:prstGeom>
        </p:spPr>
        <p:txBody>
          <a:bodyPr>
            <a:normAutofit fontScale="67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s-AR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Codificación de Datos Digitales, en Señales Digitales: Ejercicios</a:t>
            </a:r>
            <a:endParaRPr kumimoji="0" lang="es-AR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891041"/>
            <a:ext cx="9144000" cy="3075917"/>
          </a:xfrm>
          <a:prstGeom prst="rect">
            <a:avLst/>
          </a:prstGeom>
        </p:spPr>
      </p:pic>
      <p:sp>
        <p:nvSpPr>
          <p:cNvPr id="4" name="CuadroTexto 3"/>
          <p:cNvSpPr txBox="1"/>
          <p:nvPr/>
        </p:nvSpPr>
        <p:spPr>
          <a:xfrm>
            <a:off x="755576" y="5589240"/>
            <a:ext cx="2383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/>
              <a:t>Solución: 00101000011</a:t>
            </a:r>
            <a:endParaRPr lang="es-AR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 txBox="1"/>
          <p:nvPr/>
        </p:nvSpPr>
        <p:spPr>
          <a:xfrm>
            <a:off x="755576" y="404664"/>
            <a:ext cx="7416824" cy="864096"/>
          </a:xfrm>
          <a:prstGeom prst="rect">
            <a:avLst/>
          </a:prstGeom>
        </p:spPr>
        <p:txBody>
          <a:bodyPr>
            <a:normAutofit fontScale="67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s-AR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Codificación de Datos Digitales, en Señales Digitales: Ejercicios</a:t>
            </a:r>
            <a:endParaRPr kumimoji="0" lang="es-AR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8762" y="2786062"/>
            <a:ext cx="6086475" cy="1285875"/>
          </a:xfrm>
          <a:prstGeom prst="rect">
            <a:avLst/>
          </a:prstGeom>
        </p:spPr>
      </p:pic>
      <p:sp>
        <p:nvSpPr>
          <p:cNvPr id="4" name="CuadroTexto 3"/>
          <p:cNvSpPr txBox="1"/>
          <p:nvPr/>
        </p:nvSpPr>
        <p:spPr>
          <a:xfrm>
            <a:off x="1528762" y="5157192"/>
            <a:ext cx="35926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/>
              <a:t>Solución: 1 1 1 0 0 0 0 0 0 0 0 0 1 0 1</a:t>
            </a:r>
            <a:endParaRPr lang="es-AR" dirty="0"/>
          </a:p>
          <a:p>
            <a:endParaRPr lang="es-AR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0309" y="1628800"/>
            <a:ext cx="8423381" cy="3240360"/>
          </a:xfrm>
          <a:prstGeom prst="rect">
            <a:avLst/>
          </a:prstGeom>
        </p:spPr>
      </p:pic>
      <p:sp>
        <p:nvSpPr>
          <p:cNvPr id="3" name="CuadroTexto 2"/>
          <p:cNvSpPr txBox="1"/>
          <p:nvPr/>
        </p:nvSpPr>
        <p:spPr>
          <a:xfrm>
            <a:off x="360308" y="5589240"/>
            <a:ext cx="3779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Solución: 0001000111011101010101</a:t>
            </a:r>
            <a:endParaRPr lang="es-AR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611560" y="764704"/>
            <a:ext cx="8085455" cy="23069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/>
              <a:t>Ejercicios Propuestos (opcional):</a:t>
            </a:r>
            <a:endParaRPr lang="es-AR" dirty="0"/>
          </a:p>
          <a:p>
            <a:endParaRPr lang="es-AR" dirty="0"/>
          </a:p>
          <a:p>
            <a:pPr marL="342900" indent="-342900">
              <a:buAutoNum type="arabicParenR"/>
            </a:pPr>
            <a:r>
              <a:rPr lang="es-AR" dirty="0"/>
              <a:t>Dada la Secuencia de Bits: 1110000000000000101, se pide graficar por separado  </a:t>
            </a:r>
            <a:endParaRPr lang="es-AR" dirty="0"/>
          </a:p>
          <a:p>
            <a:pPr marL="800100" lvl="1" indent="-342900">
              <a:buAutoNum type="alphaLcParenR"/>
            </a:pPr>
            <a:r>
              <a:rPr lang="es-AR" dirty="0"/>
              <a:t>Bits Binario Trasmitido</a:t>
            </a:r>
            <a:endParaRPr lang="es-AR" dirty="0"/>
          </a:p>
          <a:p>
            <a:pPr marL="800100" lvl="1" indent="-342900">
              <a:buAutoNum type="alphaLcParenR"/>
            </a:pPr>
            <a:r>
              <a:rPr lang="es-AR" dirty="0"/>
              <a:t>Código AMI</a:t>
            </a:r>
            <a:endParaRPr lang="es-AR" dirty="0"/>
          </a:p>
          <a:p>
            <a:pPr marL="800100" lvl="1" indent="-342900">
              <a:buAutoNum type="alphaLcParenR"/>
            </a:pPr>
            <a:r>
              <a:rPr lang="es-AR" dirty="0"/>
              <a:t>Código HDB3</a:t>
            </a:r>
            <a:endParaRPr lang="es-AR" dirty="0"/>
          </a:p>
          <a:p>
            <a:pPr marL="800100" lvl="1" indent="-342900">
              <a:buAutoNum type="alphaLcParenR"/>
            </a:pPr>
            <a:r>
              <a:rPr lang="es-AR" dirty="0"/>
              <a:t>Bits de Violación</a:t>
            </a:r>
            <a:endParaRPr lang="es-AR" dirty="0"/>
          </a:p>
          <a:p>
            <a:pPr marL="800100" lvl="1" indent="-342900">
              <a:buAutoNum type="alphaLcParenR"/>
            </a:pPr>
            <a:r>
              <a:rPr lang="es-AR" dirty="0"/>
              <a:t>Bits de Relleno</a:t>
            </a:r>
            <a:endParaRPr lang="es-AR" dirty="0"/>
          </a:p>
        </p:txBody>
      </p:sp>
      <p:sp>
        <p:nvSpPr>
          <p:cNvPr id="6" name="CuadroTexto 5"/>
          <p:cNvSpPr txBox="1"/>
          <p:nvPr/>
        </p:nvSpPr>
        <p:spPr>
          <a:xfrm>
            <a:off x="611560" y="3212976"/>
            <a:ext cx="813883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arenR" startAt="2"/>
            </a:pPr>
            <a:r>
              <a:rPr lang="es-AR" dirty="0"/>
              <a:t>Dada la Secuencia de Bits: 1110000100001000101, se pide graficar por separado </a:t>
            </a:r>
            <a:endParaRPr lang="es-AR" dirty="0"/>
          </a:p>
          <a:p>
            <a:pPr marL="800100" lvl="1" indent="-342900">
              <a:buAutoNum type="alphaLcParenR"/>
            </a:pPr>
            <a:r>
              <a:rPr lang="es-AR" dirty="0"/>
              <a:t>Código Manchester</a:t>
            </a:r>
            <a:endParaRPr lang="es-AR" dirty="0"/>
          </a:p>
          <a:p>
            <a:pPr marL="800100" lvl="1" indent="-342900">
              <a:buAutoNum type="alphaLcParenR"/>
            </a:pPr>
            <a:r>
              <a:rPr lang="es-AR" dirty="0"/>
              <a:t>Código Manchester Diferencial</a:t>
            </a:r>
            <a:endParaRPr lang="es-AR" dirty="0"/>
          </a:p>
          <a:p>
            <a:pPr lvl="1"/>
            <a:r>
              <a:rPr lang="es-AR" dirty="0"/>
              <a:t>	 </a:t>
            </a:r>
            <a:endParaRPr lang="es-AR" dirty="0"/>
          </a:p>
          <a:p>
            <a:endParaRPr lang="es-AR" dirty="0"/>
          </a:p>
        </p:txBody>
      </p:sp>
      <p:sp>
        <p:nvSpPr>
          <p:cNvPr id="7" name="CuadroTexto 6"/>
          <p:cNvSpPr txBox="1"/>
          <p:nvPr/>
        </p:nvSpPr>
        <p:spPr>
          <a:xfrm>
            <a:off x="607613" y="4509120"/>
            <a:ext cx="813883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/>
              <a:t>3)   Dada la Secuencia de Bits: 1110000000001000101, se pide graficar por separado </a:t>
            </a:r>
            <a:endParaRPr lang="es-AR" dirty="0"/>
          </a:p>
          <a:p>
            <a:pPr marL="800100" lvl="1" indent="-342900">
              <a:buAutoNum type="alphaLcParenR"/>
            </a:pPr>
            <a:r>
              <a:rPr lang="es-AR" dirty="0"/>
              <a:t>Código B8Z0</a:t>
            </a:r>
            <a:endParaRPr lang="es-AR" dirty="0"/>
          </a:p>
          <a:p>
            <a:pPr marL="800100" lvl="1" indent="-342900">
              <a:buAutoNum type="alphaLcParenR"/>
            </a:pPr>
            <a:r>
              <a:rPr lang="es-AR" dirty="0"/>
              <a:t>Código NRZ_L</a:t>
            </a:r>
            <a:endParaRPr lang="es-AR" dirty="0"/>
          </a:p>
          <a:p>
            <a:pPr marL="800100" lvl="1" indent="-342900">
              <a:buAutoNum type="alphaLcParenR"/>
            </a:pPr>
            <a:r>
              <a:rPr lang="es-AR" dirty="0"/>
              <a:t>Código NRZ_I</a:t>
            </a:r>
            <a:endParaRPr lang="es-AR" dirty="0"/>
          </a:p>
          <a:p>
            <a:pPr marL="800100" lvl="1" indent="-342900">
              <a:buAutoNum type="alphaLcParenR"/>
            </a:pPr>
            <a:r>
              <a:rPr lang="es-AR" dirty="0"/>
              <a:t>Código RZ</a:t>
            </a:r>
            <a:endParaRPr lang="es-AR" dirty="0"/>
          </a:p>
          <a:p>
            <a:pPr lvl="1"/>
            <a:r>
              <a:rPr lang="es-AR" dirty="0"/>
              <a:t>	 </a:t>
            </a:r>
            <a:endParaRPr lang="es-AR" dirty="0"/>
          </a:p>
          <a:p>
            <a:endParaRPr lang="es-AR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3212</Words>
  <Application>WPS Presentation</Application>
  <PresentationFormat>Presentación en pantalla (4:3)</PresentationFormat>
  <Paragraphs>114</Paragraphs>
  <Slides>32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39" baseType="lpstr">
      <vt:lpstr>Arial</vt:lpstr>
      <vt:lpstr>SimSun</vt:lpstr>
      <vt:lpstr>Wingdings</vt:lpstr>
      <vt:lpstr>Calibri</vt:lpstr>
      <vt:lpstr>Microsoft YaHei</vt:lpstr>
      <vt:lpstr>Arial Unicode MS</vt:lpstr>
      <vt:lpstr>Tema de Office</vt:lpstr>
      <vt:lpstr>Redes y Comunicaciones de Datos Práctica Nº 5 :Marcelo T. Gentile, Franco Cian, Gabriel Filippa y Joaquin Nepotti – Año 2025 Codificación de Datos Digitales, en Señales Digitales: Clasificación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Codificación de Datos Digitales, en Señales Digitales: Clasificación</dc:title>
  <dc:creator>Usuario</dc:creator>
  <cp:lastModifiedBy>usuario</cp:lastModifiedBy>
  <cp:revision>25</cp:revision>
  <dcterms:created xsi:type="dcterms:W3CDTF">2024-09-25T11:49:00Z</dcterms:created>
  <dcterms:modified xsi:type="dcterms:W3CDTF">2025-09-17T11:36:31Z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F8BFC4019168449B902AD071CCF6576F_12</vt:lpwstr>
  </property>
  <property fmtid="{D5CDD505-2E9C-101B-9397-08002B2CF9AE}" pid="3" name="KSOProductBuildVer">
    <vt:lpwstr>3082-12.2.0.22549</vt:lpwstr>
  </property>
</Properties>
</file>