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embeddedFontLst>
    <p:embeddedFont>
      <p:font typeface="Raleway"/>
      <p:regular r:id="rId51"/>
      <p:bold r:id="rId52"/>
      <p:italic r:id="rId53"/>
      <p:boldItalic r:id="rId54"/>
    </p:embeddedFont>
    <p:embeddedFont>
      <p:font typeface="Lato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aleway-regular.fntdata"/><Relationship Id="rId50" Type="http://schemas.openxmlformats.org/officeDocument/2006/relationships/slide" Target="slides/slide45.xml"/><Relationship Id="rId53" Type="http://schemas.openxmlformats.org/officeDocument/2006/relationships/font" Target="fonts/Raleway-italic.fntdata"/><Relationship Id="rId52" Type="http://schemas.openxmlformats.org/officeDocument/2006/relationships/font" Target="fonts/Raleway-bold.fntdata"/><Relationship Id="rId11" Type="http://schemas.openxmlformats.org/officeDocument/2006/relationships/slide" Target="slides/slide6.xml"/><Relationship Id="rId55" Type="http://schemas.openxmlformats.org/officeDocument/2006/relationships/font" Target="fonts/Lato-regular.fntdata"/><Relationship Id="rId10" Type="http://schemas.openxmlformats.org/officeDocument/2006/relationships/slide" Target="slides/slide5.xml"/><Relationship Id="rId54" Type="http://schemas.openxmlformats.org/officeDocument/2006/relationships/font" Target="fonts/Raleway-boldItalic.fntdata"/><Relationship Id="rId13" Type="http://schemas.openxmlformats.org/officeDocument/2006/relationships/slide" Target="slides/slide8.xml"/><Relationship Id="rId57" Type="http://schemas.openxmlformats.org/officeDocument/2006/relationships/font" Target="fonts/Lato-italic.fntdata"/><Relationship Id="rId12" Type="http://schemas.openxmlformats.org/officeDocument/2006/relationships/slide" Target="slides/slide7.xml"/><Relationship Id="rId56" Type="http://schemas.openxmlformats.org/officeDocument/2006/relationships/font" Target="fonts/Lat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font" Target="fonts/La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d61a83694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d61a83694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d61a83694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d61a83694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d61a83694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d61a83694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61a83694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d61a83694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d61a83694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d61a83694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d587a538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d587a538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d61a83694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d61a83694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d61a83694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d61a83694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d61a83694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d61a83694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d62301a833_1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d62301a833_1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d587a538f7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d587a538f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d62301a83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d62301a83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d62301a83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d62301a83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d62301a83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d62301a83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d62301a83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d62301a83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d62301a83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d62301a83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d62301a83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d62301a83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d61a83694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d61a83694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d61a83694c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d61a83694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d61a83694c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d61a83694c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d61a83694c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d61a83694c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d62301a833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d62301a833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d61a83694c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d61a83694c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d61a83694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d61a83694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d62301a833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d62301a833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d61a83694c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d61a83694c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d62301a83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d62301a83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d62301a833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d62301a833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d62301a83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d62301a83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d62301a833_1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d62301a833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d61a83694c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d61a83694c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d62301a833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d62301a833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d62301a833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d62301a833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d62301a833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d62301a833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d627d3bc2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2d627d3bc2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d62301a833_1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d62301a833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d62301a833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d62301a833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d627d3bc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d627d3bc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d62301a833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d62301a833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d62301a833_1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d62301a833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d62301a833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d62301a833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d62301a833_1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d62301a833_1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d62301a833_1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d62301a833_1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d62301a833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d62301a83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625" y="770775"/>
            <a:ext cx="7688100" cy="16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Trabajo Práctico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Inteligencia Computacional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7950" y="2403075"/>
            <a:ext cx="7688100" cy="10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200">
                <a:solidFill>
                  <a:schemeClr val="dk2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Predictor para el ganador del premio </a:t>
            </a:r>
            <a:endParaRPr b="1" sz="4200">
              <a:solidFill>
                <a:schemeClr val="dk2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200">
                <a:solidFill>
                  <a:schemeClr val="dk2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 MVP de la NBA</a:t>
            </a:r>
            <a:endParaRPr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840525" y="4509775"/>
            <a:ext cx="5466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chemeClr val="dk2"/>
                </a:solidFill>
                <a:highlight>
                  <a:srgbClr val="CCCCCC"/>
                </a:highlight>
                <a:latin typeface="Raleway"/>
                <a:ea typeface="Raleway"/>
                <a:cs typeface="Raleway"/>
                <a:sym typeface="Raleway"/>
              </a:rPr>
              <a:t>Bargas, Santiago. Grinovero </a:t>
            </a:r>
            <a:r>
              <a:rPr b="1" lang="es-419" sz="1700">
                <a:solidFill>
                  <a:schemeClr val="dk2"/>
                </a:solidFill>
                <a:highlight>
                  <a:srgbClr val="CCCCCC"/>
                </a:highlight>
                <a:latin typeface="Raleway"/>
                <a:ea typeface="Raleway"/>
                <a:cs typeface="Raleway"/>
                <a:sym typeface="Raleway"/>
              </a:rPr>
              <a:t>Jerónimo</a:t>
            </a:r>
            <a:r>
              <a:rPr b="1" lang="es-419" sz="1700">
                <a:solidFill>
                  <a:schemeClr val="dk2"/>
                </a:solidFill>
                <a:highlight>
                  <a:srgbClr val="CCCCCC"/>
                </a:highlight>
                <a:latin typeface="Raleway"/>
                <a:ea typeface="Raleway"/>
                <a:cs typeface="Raleway"/>
                <a:sym typeface="Raleway"/>
              </a:rPr>
              <a:t>. Roman Telli</a:t>
            </a:r>
            <a:endParaRPr sz="100">
              <a:solidFill>
                <a:schemeClr val="accent1"/>
              </a:solidFill>
              <a:highlight>
                <a:srgbClr val="CCCCCC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ctrTitle"/>
          </p:nvPr>
        </p:nvSpPr>
        <p:spPr>
          <a:xfrm>
            <a:off x="729450" y="1322450"/>
            <a:ext cx="76881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/>
              <a:t>Motivaciones para el proyecto</a:t>
            </a:r>
            <a:endParaRPr sz="3600"/>
          </a:p>
        </p:txBody>
      </p:sp>
      <p:sp>
        <p:nvSpPr>
          <p:cNvPr id="94" name="Google Shape;94;p14"/>
          <p:cNvSpPr txBox="1"/>
          <p:nvPr>
            <p:ph idx="1" type="subTitle"/>
          </p:nvPr>
        </p:nvSpPr>
        <p:spPr>
          <a:xfrm>
            <a:off x="729450" y="2127950"/>
            <a:ext cx="7688100" cy="28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●"/>
            </a:pPr>
            <a:r>
              <a:rPr b="1" lang="es-419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Interés</a:t>
            </a:r>
            <a:r>
              <a:rPr b="1" lang="es-419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por el deporte</a:t>
            </a:r>
            <a:endParaRPr b="1" sz="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ctrTitle"/>
          </p:nvPr>
        </p:nvSpPr>
        <p:spPr>
          <a:xfrm>
            <a:off x="729450" y="1322450"/>
            <a:ext cx="76881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/>
              <a:t>Motivaciones para el proyecto</a:t>
            </a:r>
            <a:endParaRPr sz="3600"/>
          </a:p>
        </p:txBody>
      </p:sp>
      <p:sp>
        <p:nvSpPr>
          <p:cNvPr id="100" name="Google Shape;100;p15"/>
          <p:cNvSpPr txBox="1"/>
          <p:nvPr>
            <p:ph idx="1" type="subTitle"/>
          </p:nvPr>
        </p:nvSpPr>
        <p:spPr>
          <a:xfrm>
            <a:off x="729450" y="2127950"/>
            <a:ext cx="7688100" cy="28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●"/>
            </a:pPr>
            <a:r>
              <a:rPr b="1" lang="es-419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Interés por el deporte</a:t>
            </a:r>
            <a:endParaRPr b="1"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●"/>
            </a:pPr>
            <a:r>
              <a:rPr b="1" lang="es-419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Cantidad de estadísticas disponibles</a:t>
            </a:r>
            <a:endParaRPr b="1"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ctrTitle"/>
          </p:nvPr>
        </p:nvSpPr>
        <p:spPr>
          <a:xfrm>
            <a:off x="729450" y="1322450"/>
            <a:ext cx="76881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/>
              <a:t>Motivaciones para el proyecto</a:t>
            </a:r>
            <a:endParaRPr sz="3600"/>
          </a:p>
        </p:txBody>
      </p:sp>
      <p:sp>
        <p:nvSpPr>
          <p:cNvPr id="106" name="Google Shape;106;p16"/>
          <p:cNvSpPr txBox="1"/>
          <p:nvPr>
            <p:ph idx="1" type="subTitle"/>
          </p:nvPr>
        </p:nvSpPr>
        <p:spPr>
          <a:xfrm>
            <a:off x="729450" y="2127950"/>
            <a:ext cx="7688100" cy="28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●"/>
            </a:pPr>
            <a:r>
              <a:rPr b="1" lang="es-419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Interés por el deporte</a:t>
            </a:r>
            <a:endParaRPr b="1"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●"/>
            </a:pPr>
            <a:r>
              <a:rPr b="1" lang="es-419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Cantidad de estadísticas disponibles</a:t>
            </a:r>
            <a:endParaRPr b="1"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●"/>
            </a:pPr>
            <a:r>
              <a:rPr b="1" lang="es-419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Aplicación de inteligencia artificial en el deporte</a:t>
            </a:r>
            <a:endParaRPr b="1"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ctrTitle"/>
          </p:nvPr>
        </p:nvSpPr>
        <p:spPr>
          <a:xfrm>
            <a:off x="729450" y="1322450"/>
            <a:ext cx="76881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/>
              <a:t>Motivaciones para el proyecto</a:t>
            </a:r>
            <a:endParaRPr sz="3600"/>
          </a:p>
        </p:txBody>
      </p:sp>
      <p:sp>
        <p:nvSpPr>
          <p:cNvPr id="112" name="Google Shape;112;p17"/>
          <p:cNvSpPr txBox="1"/>
          <p:nvPr>
            <p:ph idx="1" type="subTitle"/>
          </p:nvPr>
        </p:nvSpPr>
        <p:spPr>
          <a:xfrm>
            <a:off x="729450" y="2127950"/>
            <a:ext cx="7688100" cy="28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●"/>
            </a:pPr>
            <a:r>
              <a:rPr b="1" lang="es-419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Interés por el deporte</a:t>
            </a:r>
            <a:endParaRPr b="1"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●"/>
            </a:pPr>
            <a:r>
              <a:rPr b="1" lang="es-419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Cantidad de estadísticas disponibles</a:t>
            </a:r>
            <a:endParaRPr b="1"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●"/>
            </a:pPr>
            <a:r>
              <a:rPr b="1" lang="es-419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Aplicación de inteligencia artificial en el deporte</a:t>
            </a:r>
            <a:endParaRPr b="1"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●"/>
            </a:pPr>
            <a:r>
              <a:rPr b="1" lang="es-419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Apuestas deportivas</a:t>
            </a:r>
            <a:endParaRPr b="1"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ctrTitle"/>
          </p:nvPr>
        </p:nvSpPr>
        <p:spPr>
          <a:xfrm>
            <a:off x="729450" y="1322450"/>
            <a:ext cx="76881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/>
              <a:t>Motivaciones para el proyecto</a:t>
            </a:r>
            <a:endParaRPr sz="3600"/>
          </a:p>
        </p:txBody>
      </p:sp>
      <p:sp>
        <p:nvSpPr>
          <p:cNvPr id="118" name="Google Shape;118;p18"/>
          <p:cNvSpPr txBox="1"/>
          <p:nvPr>
            <p:ph idx="1" type="subTitle"/>
          </p:nvPr>
        </p:nvSpPr>
        <p:spPr>
          <a:xfrm>
            <a:off x="729450" y="2127950"/>
            <a:ext cx="7688100" cy="28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●"/>
            </a:pPr>
            <a:r>
              <a:rPr b="1" lang="es-419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Interés por el deporte</a:t>
            </a:r>
            <a:endParaRPr b="1"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●"/>
            </a:pPr>
            <a:r>
              <a:rPr b="1" lang="es-419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Cantidad de estadísticas disponibles</a:t>
            </a:r>
            <a:endParaRPr b="1"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●"/>
            </a:pPr>
            <a:r>
              <a:rPr b="1" lang="es-419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Aplicación de inteligencia artificial en el deporte</a:t>
            </a:r>
            <a:endParaRPr b="1"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Char char="●"/>
            </a:pPr>
            <a:r>
              <a:rPr b="1" lang="es-419" sz="2400" strike="sngStrike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Apuestas deportivas</a:t>
            </a:r>
            <a:r>
              <a:rPr b="1" lang="es-419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❌</a:t>
            </a:r>
            <a:endParaRPr b="1" sz="2400" strike="sngStrike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94700" y="557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Etapas de la implementación del proyecto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94700" y="557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Etapas de la </a:t>
            </a:r>
            <a:r>
              <a:rPr lang="es-419"/>
              <a:t>implementación</a:t>
            </a:r>
            <a:r>
              <a:rPr lang="es-419"/>
              <a:t> del proyecto</a:t>
            </a:r>
            <a:endParaRPr/>
          </a:p>
        </p:txBody>
      </p:sp>
      <p:sp>
        <p:nvSpPr>
          <p:cNvPr id="129" name="Google Shape;129;p20"/>
          <p:cNvSpPr/>
          <p:nvPr/>
        </p:nvSpPr>
        <p:spPr>
          <a:xfrm>
            <a:off x="636375" y="2051926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latin typeface="Raleway"/>
                <a:ea typeface="Raleway"/>
                <a:cs typeface="Raleway"/>
                <a:sym typeface="Raleway"/>
              </a:rPr>
              <a:t>Etapa 1:</a:t>
            </a:r>
            <a:endParaRPr b="1" sz="19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latin typeface="Raleway"/>
                <a:ea typeface="Raleway"/>
                <a:cs typeface="Raleway"/>
                <a:sym typeface="Raleway"/>
              </a:rPr>
              <a:t>Creación de la base de datos</a:t>
            </a:r>
            <a:endParaRPr b="1" sz="19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794700" y="557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Etapas de la implementación del proyecto</a:t>
            </a:r>
            <a:endParaRPr/>
          </a:p>
        </p:txBody>
      </p:sp>
      <p:sp>
        <p:nvSpPr>
          <p:cNvPr id="135" name="Google Shape;135;p21"/>
          <p:cNvSpPr/>
          <p:nvPr/>
        </p:nvSpPr>
        <p:spPr>
          <a:xfrm>
            <a:off x="636375" y="2051926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latin typeface="Raleway"/>
                <a:ea typeface="Raleway"/>
                <a:cs typeface="Raleway"/>
                <a:sym typeface="Raleway"/>
              </a:rPr>
              <a:t>Etapa 1:</a:t>
            </a:r>
            <a:endParaRPr b="1" sz="19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latin typeface="Raleway"/>
                <a:ea typeface="Raleway"/>
                <a:cs typeface="Raleway"/>
                <a:sym typeface="Raleway"/>
              </a:rPr>
              <a:t>Creación de la base de datos</a:t>
            </a:r>
            <a:endParaRPr b="1" sz="19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3881037" y="2051920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latin typeface="Raleway"/>
                <a:ea typeface="Raleway"/>
                <a:cs typeface="Raleway"/>
                <a:sym typeface="Raleway"/>
              </a:rPr>
              <a:t>Etapa 2:</a:t>
            </a:r>
            <a:endParaRPr b="1" sz="17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latin typeface="Raleway"/>
                <a:ea typeface="Raleway"/>
                <a:cs typeface="Raleway"/>
                <a:sym typeface="Raleway"/>
              </a:rPr>
              <a:t>Elección</a:t>
            </a:r>
            <a:r>
              <a:rPr b="1" lang="es-419" sz="1700">
                <a:latin typeface="Raleway"/>
                <a:ea typeface="Raleway"/>
                <a:cs typeface="Raleway"/>
                <a:sym typeface="Raleway"/>
              </a:rPr>
              <a:t> del modelo a utilizar</a:t>
            </a:r>
            <a:endParaRPr sz="13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636375" y="2051926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Etapa 1:</a:t>
            </a:r>
            <a:endParaRPr b="1" sz="19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Creación de la base de datos</a:t>
            </a:r>
            <a:endParaRPr b="1" sz="19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3881037" y="2051920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Etapa 2:</a:t>
            </a:r>
            <a:endParaRPr b="1" sz="170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Entrenamiento del modelo utilizado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3881037" y="2051920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Etapa 2: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Entrenamiento y prueba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0" name="Google Shape;140;p21"/>
          <p:cNvSpPr txBox="1"/>
          <p:nvPr>
            <p:ph type="title"/>
          </p:nvPr>
        </p:nvSpPr>
        <p:spPr>
          <a:xfrm>
            <a:off x="794700" y="557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Etapas de la implementación del proyecto</a:t>
            </a:r>
            <a:endParaRPr/>
          </a:p>
        </p:txBody>
      </p:sp>
      <p:sp>
        <p:nvSpPr>
          <p:cNvPr id="141" name="Google Shape;141;p21"/>
          <p:cNvSpPr/>
          <p:nvPr/>
        </p:nvSpPr>
        <p:spPr>
          <a:xfrm>
            <a:off x="3881037" y="2051920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Etapa 2: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Entrenamiento y prueba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794700" y="557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Etapas de la implementación del proyecto</a:t>
            </a:r>
            <a:endParaRPr/>
          </a:p>
        </p:txBody>
      </p:sp>
      <p:sp>
        <p:nvSpPr>
          <p:cNvPr id="147" name="Google Shape;147;p22"/>
          <p:cNvSpPr/>
          <p:nvPr/>
        </p:nvSpPr>
        <p:spPr>
          <a:xfrm>
            <a:off x="636375" y="2051926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latin typeface="Raleway"/>
                <a:ea typeface="Raleway"/>
                <a:cs typeface="Raleway"/>
                <a:sym typeface="Raleway"/>
              </a:rPr>
              <a:t>Etapa 1:</a:t>
            </a:r>
            <a:endParaRPr b="1" sz="19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latin typeface="Raleway"/>
                <a:ea typeface="Raleway"/>
                <a:cs typeface="Raleway"/>
                <a:sym typeface="Raleway"/>
              </a:rPr>
              <a:t>Creación de la base de datos</a:t>
            </a:r>
            <a:endParaRPr b="1" sz="19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8" name="Google Shape;148;p22"/>
          <p:cNvSpPr/>
          <p:nvPr/>
        </p:nvSpPr>
        <p:spPr>
          <a:xfrm>
            <a:off x="7068750" y="2051896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latin typeface="Raleway"/>
                <a:ea typeface="Raleway"/>
                <a:cs typeface="Raleway"/>
                <a:sym typeface="Raleway"/>
              </a:rPr>
              <a:t>Etapa 3:</a:t>
            </a:r>
            <a:endParaRPr b="1" sz="17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latin typeface="Raleway"/>
                <a:ea typeface="Raleway"/>
                <a:cs typeface="Raleway"/>
                <a:sym typeface="Raleway"/>
              </a:rPr>
              <a:t>Análisis de resultados</a:t>
            </a:r>
            <a:endParaRPr b="1" sz="17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3881037" y="2051920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latin typeface="Raleway"/>
                <a:ea typeface="Raleway"/>
                <a:cs typeface="Raleway"/>
                <a:sym typeface="Raleway"/>
              </a:rPr>
              <a:t>Etapa 2:</a:t>
            </a:r>
            <a:endParaRPr b="1" sz="17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latin typeface="Raleway"/>
                <a:ea typeface="Raleway"/>
                <a:cs typeface="Raleway"/>
                <a:sym typeface="Raleway"/>
              </a:rPr>
              <a:t>Elección del modelo a utilizar</a:t>
            </a:r>
            <a:endParaRPr sz="13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0" name="Google Shape;150;p22"/>
          <p:cNvSpPr/>
          <p:nvPr/>
        </p:nvSpPr>
        <p:spPr>
          <a:xfrm>
            <a:off x="3881037" y="2051920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latin typeface="Raleway"/>
                <a:ea typeface="Raleway"/>
                <a:cs typeface="Raleway"/>
                <a:sym typeface="Raleway"/>
              </a:rPr>
              <a:t>Etapa 2:</a:t>
            </a:r>
            <a:endParaRPr b="1" sz="17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latin typeface="Raleway"/>
                <a:ea typeface="Raleway"/>
                <a:cs typeface="Raleway"/>
                <a:sym typeface="Raleway"/>
              </a:rPr>
              <a:t>Elección del modelo a utilizar</a:t>
            </a:r>
            <a:endParaRPr sz="13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3881037" y="2051920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Etapa 2:</a:t>
            </a:r>
            <a:endParaRPr b="1" sz="170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Entrenamiento del modelo utilizado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2" name="Google Shape;152;p22"/>
          <p:cNvSpPr/>
          <p:nvPr/>
        </p:nvSpPr>
        <p:spPr>
          <a:xfrm>
            <a:off x="3881037" y="2051920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Etapa 2: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Entrenamiento y prueba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3881037" y="2051920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Etapa 2: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Entrenamiento y prueba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794700" y="557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Etapas de la implementación del proyecto</a:t>
            </a:r>
            <a:endParaRPr/>
          </a:p>
        </p:txBody>
      </p:sp>
      <p:sp>
        <p:nvSpPr>
          <p:cNvPr id="159" name="Google Shape;159;p23"/>
          <p:cNvSpPr/>
          <p:nvPr/>
        </p:nvSpPr>
        <p:spPr>
          <a:xfrm>
            <a:off x="636375" y="2051926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Etapa 1:</a:t>
            </a:r>
            <a:endParaRPr b="1" sz="190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Creación de la base de datos</a:t>
            </a:r>
            <a:endParaRPr b="1" sz="190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0" name="Google Shape;160;p23"/>
          <p:cNvSpPr/>
          <p:nvPr/>
        </p:nvSpPr>
        <p:spPr>
          <a:xfrm>
            <a:off x="7068750" y="2051896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latin typeface="Raleway"/>
                <a:ea typeface="Raleway"/>
                <a:cs typeface="Raleway"/>
                <a:sym typeface="Raleway"/>
              </a:rPr>
              <a:t>Etapa 3:</a:t>
            </a:r>
            <a:endParaRPr b="1" sz="17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latin typeface="Raleway"/>
                <a:ea typeface="Raleway"/>
                <a:cs typeface="Raleway"/>
                <a:sym typeface="Raleway"/>
              </a:rPr>
              <a:t>Análisis de resultados</a:t>
            </a:r>
            <a:endParaRPr b="1" sz="17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1" name="Google Shape;161;p23"/>
          <p:cNvSpPr/>
          <p:nvPr/>
        </p:nvSpPr>
        <p:spPr>
          <a:xfrm>
            <a:off x="3881037" y="2051920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latin typeface="Raleway"/>
                <a:ea typeface="Raleway"/>
                <a:cs typeface="Raleway"/>
                <a:sym typeface="Raleway"/>
              </a:rPr>
              <a:t>Etapa 2:</a:t>
            </a:r>
            <a:endParaRPr b="1" sz="17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latin typeface="Raleway"/>
                <a:ea typeface="Raleway"/>
                <a:cs typeface="Raleway"/>
                <a:sym typeface="Raleway"/>
              </a:rPr>
              <a:t>Elección del modelo a utilizar</a:t>
            </a:r>
            <a:endParaRPr sz="13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3881037" y="2051920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latin typeface="Raleway"/>
                <a:ea typeface="Raleway"/>
                <a:cs typeface="Raleway"/>
                <a:sym typeface="Raleway"/>
              </a:rPr>
              <a:t>Etapa 2:</a:t>
            </a:r>
            <a:endParaRPr b="1" sz="17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latin typeface="Raleway"/>
                <a:ea typeface="Raleway"/>
                <a:cs typeface="Raleway"/>
                <a:sym typeface="Raleway"/>
              </a:rPr>
              <a:t>Elección del modelo a utilizar</a:t>
            </a:r>
            <a:endParaRPr sz="13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3881037" y="2051920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Etapa 2:</a:t>
            </a:r>
            <a:endParaRPr b="1" sz="170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Entrenamiento del modelo utilizado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4" name="Google Shape;164;p23"/>
          <p:cNvSpPr/>
          <p:nvPr/>
        </p:nvSpPr>
        <p:spPr>
          <a:xfrm>
            <a:off x="3881037" y="2051920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Etapa 2: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Entrenamiento y prueba</a:t>
            </a:r>
            <a:endParaRPr sz="1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3881037" y="2051920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Etapa 2: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Entrenamiento y prueba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title"/>
          </p:nvPr>
        </p:nvSpPr>
        <p:spPr>
          <a:xfrm>
            <a:off x="729450" y="622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Etapa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96700" y="1349325"/>
            <a:ext cx="91440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Para buscar los datos utilizados se </a:t>
            </a:r>
            <a:r>
              <a:rPr b="1" lang="es-419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utilizó</a:t>
            </a:r>
            <a:r>
              <a:rPr b="1" lang="es-419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la </a:t>
            </a:r>
            <a:r>
              <a:rPr b="1" lang="es-419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página</a:t>
            </a:r>
            <a:r>
              <a:rPr b="1" lang="es-419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web Basketball Reference </a:t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72" name="Google Shape;17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500" y="1781452"/>
            <a:ext cx="6852725" cy="314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/>
        </p:nvSpPr>
        <p:spPr>
          <a:xfrm>
            <a:off x="333200" y="628425"/>
            <a:ext cx="7292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Características por equipo por temporada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1124100" y="1301100"/>
            <a:ext cx="7292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Diferentes tablas con muchas </a:t>
            </a: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estadísticas</a:t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por ej: </a:t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79" name="Google Shape;1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94200"/>
            <a:ext cx="8839202" cy="146354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5"/>
          <p:cNvSpPr txBox="1"/>
          <p:nvPr/>
        </p:nvSpPr>
        <p:spPr>
          <a:xfrm>
            <a:off x="152400" y="2286300"/>
            <a:ext cx="8263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Tabla de </a:t>
            </a:r>
            <a:r>
              <a:rPr b="1" lang="es-419" sz="2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estadísticas</a:t>
            </a:r>
            <a:r>
              <a:rPr b="1" lang="es-419" sz="2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“Por juego” para una temporada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567050" y="4363700"/>
            <a:ext cx="7292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donde en total hay 30 equipos..</a:t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/>
        </p:nvSpPr>
        <p:spPr>
          <a:xfrm>
            <a:off x="333200" y="628425"/>
            <a:ext cx="7292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Distintas tablas: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7" name="Google Shape;18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625" y="2658600"/>
            <a:ext cx="1685925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/>
        </p:nvSpPr>
        <p:spPr>
          <a:xfrm>
            <a:off x="333200" y="628425"/>
            <a:ext cx="7292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Distintas tablas: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3" name="Google Shape;19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625" y="2658600"/>
            <a:ext cx="16859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300" y="2066750"/>
            <a:ext cx="2447925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/>
        </p:nvSpPr>
        <p:spPr>
          <a:xfrm>
            <a:off x="333200" y="628425"/>
            <a:ext cx="7292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Distintas tablas: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0" name="Google Shape;20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625" y="2658600"/>
            <a:ext cx="16859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2800" y="1815150"/>
            <a:ext cx="24955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300" y="2066750"/>
            <a:ext cx="2447925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/>
        </p:nvSpPr>
        <p:spPr>
          <a:xfrm>
            <a:off x="333200" y="628425"/>
            <a:ext cx="7292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Distintas tablas: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8" name="Google Shape;20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625" y="2658600"/>
            <a:ext cx="16859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2800" y="1815150"/>
            <a:ext cx="24955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300" y="2066750"/>
            <a:ext cx="24479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3200" y="3687975"/>
            <a:ext cx="2495550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 txBox="1"/>
          <p:nvPr/>
        </p:nvSpPr>
        <p:spPr>
          <a:xfrm>
            <a:off x="333200" y="628425"/>
            <a:ext cx="7292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Distintas tablas: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7" name="Google Shape;2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625" y="2658600"/>
            <a:ext cx="16859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2800" y="1815150"/>
            <a:ext cx="24955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3250" y="3726075"/>
            <a:ext cx="31146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300" y="2066750"/>
            <a:ext cx="24479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3200" y="3687975"/>
            <a:ext cx="2495550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/>
          <p:nvPr/>
        </p:nvSpPr>
        <p:spPr>
          <a:xfrm>
            <a:off x="333200" y="628425"/>
            <a:ext cx="667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Características de jugadores por año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7" name="Google Shape;227;p31"/>
          <p:cNvSpPr txBox="1"/>
          <p:nvPr/>
        </p:nvSpPr>
        <p:spPr>
          <a:xfrm>
            <a:off x="333200" y="2716775"/>
            <a:ext cx="46122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aleway"/>
              <a:buChar char="●"/>
            </a:pPr>
            <a:r>
              <a:rPr b="1" lang="es-419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Totales (</a:t>
            </a:r>
            <a:r>
              <a:rPr b="1" lang="es-419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estadísticas</a:t>
            </a:r>
            <a:r>
              <a:rPr b="1" lang="es-419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acumuladas de toda la temporada)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aleway"/>
              <a:buChar char="●"/>
            </a:pPr>
            <a:r>
              <a:rPr b="1" lang="es-419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Por juego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aleway"/>
              <a:buChar char="●"/>
            </a:pPr>
            <a:r>
              <a:rPr b="1" lang="es-419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Por 36 minutos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aleway"/>
              <a:buChar char="●"/>
            </a:pPr>
            <a:r>
              <a:rPr b="1" lang="es-419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Por 100 posiciones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8" name="Google Shape;228;p31"/>
          <p:cNvSpPr txBox="1"/>
          <p:nvPr/>
        </p:nvSpPr>
        <p:spPr>
          <a:xfrm>
            <a:off x="5126125" y="2716775"/>
            <a:ext cx="38244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"/>
              <a:buChar char="●"/>
            </a:pPr>
            <a:r>
              <a:rPr b="1" lang="es-419" sz="1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Avanzadas</a:t>
            </a:r>
            <a:endParaRPr b="1" sz="18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"/>
              <a:buChar char="●"/>
            </a:pPr>
            <a:r>
              <a:rPr b="1" lang="es-419" sz="1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Jugada por jugada</a:t>
            </a:r>
            <a:endParaRPr b="1" sz="18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"/>
              <a:buChar char="●"/>
            </a:pPr>
            <a:r>
              <a:rPr b="1" lang="es-419" sz="1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Tiros</a:t>
            </a:r>
            <a:endParaRPr b="1" sz="18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"/>
              <a:buChar char="●"/>
            </a:pPr>
            <a:r>
              <a:rPr b="1" lang="es-419" sz="1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Tiros ajustados ( porcentaje de tiros efectivos</a:t>
            </a:r>
            <a:endParaRPr b="1" sz="18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29" name="Google Shape;22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4900"/>
            <a:ext cx="8839200" cy="687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1"/>
          <p:cNvSpPr txBox="1"/>
          <p:nvPr/>
        </p:nvSpPr>
        <p:spPr>
          <a:xfrm>
            <a:off x="333200" y="1289350"/>
            <a:ext cx="667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Distintas tablas: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 txBox="1"/>
          <p:nvPr/>
        </p:nvSpPr>
        <p:spPr>
          <a:xfrm>
            <a:off x="333200" y="628425"/>
            <a:ext cx="667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stadísticas</a:t>
            </a:r>
            <a:r>
              <a:rPr b="1" lang="es-419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de jugadores por año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6" name="Google Shape;23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313" y="1780125"/>
            <a:ext cx="7877076" cy="18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850" y="3917201"/>
            <a:ext cx="7934001" cy="11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2"/>
          <p:cNvSpPr txBox="1"/>
          <p:nvPr/>
        </p:nvSpPr>
        <p:spPr>
          <a:xfrm>
            <a:off x="3512325" y="2953450"/>
            <a:ext cx="5466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6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…</a:t>
            </a:r>
            <a:endParaRPr sz="6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9" name="Google Shape;239;p32"/>
          <p:cNvSpPr txBox="1"/>
          <p:nvPr/>
        </p:nvSpPr>
        <p:spPr>
          <a:xfrm>
            <a:off x="233300" y="1387625"/>
            <a:ext cx="782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En 2023 se obtuvieron </a:t>
            </a:r>
            <a:r>
              <a:rPr b="1" lang="es-419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estadísticas</a:t>
            </a:r>
            <a:r>
              <a:rPr b="1" lang="es-419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de 539 jugadores</a:t>
            </a:r>
            <a:endParaRPr sz="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/>
          <p:nvPr/>
        </p:nvSpPr>
        <p:spPr>
          <a:xfrm>
            <a:off x="333200" y="628425"/>
            <a:ext cx="667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Características de jugadores por año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5" name="Google Shape;245;p33"/>
          <p:cNvSpPr txBox="1"/>
          <p:nvPr/>
        </p:nvSpPr>
        <p:spPr>
          <a:xfrm>
            <a:off x="598475" y="1518900"/>
            <a:ext cx="78291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Entonces si tenemos aproximadamente 500 jugadores por temporada aproximadamente, y 8 tablas de </a:t>
            </a:r>
            <a:r>
              <a:rPr b="1" lang="es-419" sz="2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estadísticas</a:t>
            </a:r>
            <a:r>
              <a:rPr b="1" lang="es-419" sz="2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distintas.</a:t>
            </a:r>
            <a:endParaRPr b="1" sz="2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Más</a:t>
            </a:r>
            <a:r>
              <a:rPr b="1" lang="es-419" sz="2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los 32 equipos con sus distintas tablas de </a:t>
            </a:r>
            <a:r>
              <a:rPr b="1" lang="es-419" sz="2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estadísticas</a:t>
            </a:r>
            <a:r>
              <a:rPr b="1" lang="es-419" sz="2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… </a:t>
            </a:r>
            <a:endParaRPr b="1" sz="2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6" name="Google Shape;246;p33"/>
          <p:cNvSpPr txBox="1"/>
          <p:nvPr/>
        </p:nvSpPr>
        <p:spPr>
          <a:xfrm>
            <a:off x="2149475" y="3510350"/>
            <a:ext cx="4727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HAY UNA CANTIDAD INMENSA DE DATOS!!!</a:t>
            </a:r>
            <a:endParaRPr b="1" sz="2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/>
        </p:nvSpPr>
        <p:spPr>
          <a:xfrm>
            <a:off x="333200" y="628425"/>
            <a:ext cx="667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Filtrado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" name="Google Shape;259;p35"/>
          <p:cNvSpPr txBox="1"/>
          <p:nvPr/>
        </p:nvSpPr>
        <p:spPr>
          <a:xfrm>
            <a:off x="845450" y="1383650"/>
            <a:ext cx="667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Dos etapas de filtrado: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0" name="Google Shape;260;p35"/>
          <p:cNvSpPr txBox="1"/>
          <p:nvPr/>
        </p:nvSpPr>
        <p:spPr>
          <a:xfrm>
            <a:off x="997850" y="1968650"/>
            <a:ext cx="6671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1. Selección de los N jugadores más relevantes por año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1" name="Google Shape;261;p35"/>
          <p:cNvSpPr txBox="1"/>
          <p:nvPr/>
        </p:nvSpPr>
        <p:spPr>
          <a:xfrm>
            <a:off x="997850" y="3062575"/>
            <a:ext cx="6671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. </a:t>
            </a: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Eliminación</a:t>
            </a: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de </a:t>
            </a: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estadísticas</a:t>
            </a: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redundantes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 txBox="1"/>
          <p:nvPr>
            <p:ph idx="1" type="body"/>
          </p:nvPr>
        </p:nvSpPr>
        <p:spPr>
          <a:xfrm>
            <a:off x="163950" y="2466100"/>
            <a:ext cx="88161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Existe cierta tendencia a buscar variedad en los ganadores</a:t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67" name="Google Shape;26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0025" y="3010400"/>
            <a:ext cx="3543149" cy="20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6"/>
          <p:cNvSpPr txBox="1"/>
          <p:nvPr/>
        </p:nvSpPr>
        <p:spPr>
          <a:xfrm>
            <a:off x="116550" y="1469550"/>
            <a:ext cx="3543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Jugador gana varias veces consecutivas el premio </a:t>
            </a:r>
            <a:endParaRPr sz="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9" name="Google Shape;269;p36"/>
          <p:cNvSpPr txBox="1"/>
          <p:nvPr/>
        </p:nvSpPr>
        <p:spPr>
          <a:xfrm>
            <a:off x="4925250" y="1438800"/>
            <a:ext cx="377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Disminuye la probabilidad de volverlo a ganar</a:t>
            </a:r>
            <a:endParaRPr sz="800"/>
          </a:p>
        </p:txBody>
      </p:sp>
      <p:pic>
        <p:nvPicPr>
          <p:cNvPr id="270" name="Google Shape;27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8325" y="1070537"/>
            <a:ext cx="1536927" cy="1536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7"/>
          <p:cNvSpPr txBox="1"/>
          <p:nvPr/>
        </p:nvSpPr>
        <p:spPr>
          <a:xfrm>
            <a:off x="1255350" y="258375"/>
            <a:ext cx="711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Caso de Lebron James: </a:t>
            </a:r>
            <a:r>
              <a:rPr b="1" lang="es-419" sz="2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Ganó</a:t>
            </a:r>
            <a:r>
              <a:rPr b="1" lang="es-419" sz="2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2009 2010 2012 y 2013. Aunque tambien merecia ganar en el año 2011</a:t>
            </a:r>
            <a:endParaRPr sz="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76" name="Google Shape;27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6450" y="1058775"/>
            <a:ext cx="2463301" cy="3211223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/>
        </p:nvSpPr>
        <p:spPr>
          <a:xfrm>
            <a:off x="0" y="4404600"/>
            <a:ext cx="91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Se agrego una columna que contiene la cantidad de veces consecutivas que </a:t>
            </a:r>
            <a:r>
              <a:rPr b="1" lang="es-419" sz="1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ganó</a:t>
            </a:r>
            <a:r>
              <a:rPr b="1" lang="es-419" sz="1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el premio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/>
          <p:nvPr/>
        </p:nvSpPr>
        <p:spPr>
          <a:xfrm>
            <a:off x="333200" y="628425"/>
            <a:ext cx="667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Normalización</a:t>
            </a: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de los datos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3" name="Google Shape;283;p38"/>
          <p:cNvSpPr txBox="1"/>
          <p:nvPr/>
        </p:nvSpPr>
        <p:spPr>
          <a:xfrm>
            <a:off x="1236300" y="1815025"/>
            <a:ext cx="667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Cantidad de votos que recibe un jugador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" name="Google Shape;284;p38"/>
          <p:cNvSpPr txBox="1"/>
          <p:nvPr/>
        </p:nvSpPr>
        <p:spPr>
          <a:xfrm>
            <a:off x="1318950" y="2400025"/>
            <a:ext cx="6671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Depende de: </a:t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Char char="●"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Sus propias </a:t>
            </a: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estadísticas</a:t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Char char="●"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Estadísticas</a:t>
            </a: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de sus competidores</a:t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5" name="Google Shape;285;p38"/>
          <p:cNvSpPr txBox="1"/>
          <p:nvPr/>
        </p:nvSpPr>
        <p:spPr>
          <a:xfrm>
            <a:off x="1318950" y="3937650"/>
            <a:ext cx="667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Entonces para representar la </a:t>
            </a:r>
            <a:r>
              <a:rPr b="1" lang="es-419" sz="2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correlación</a:t>
            </a:r>
            <a:r>
              <a:rPr b="1" lang="es-419" sz="2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de los datos se deben normalizar las </a:t>
            </a:r>
            <a:r>
              <a:rPr b="1" lang="es-419" sz="21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estadísticas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/>
          <p:nvPr/>
        </p:nvSpPr>
        <p:spPr>
          <a:xfrm>
            <a:off x="636375" y="2051926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Etapa 1:</a:t>
            </a:r>
            <a:endParaRPr b="1" sz="190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Creación de la base de datos</a:t>
            </a:r>
            <a:endParaRPr b="1" sz="190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1" name="Google Shape;291;p39"/>
          <p:cNvSpPr/>
          <p:nvPr/>
        </p:nvSpPr>
        <p:spPr>
          <a:xfrm>
            <a:off x="3881037" y="2051920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Etapa 2:</a:t>
            </a:r>
            <a:endParaRPr b="1" sz="170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Entrenamiento del modelo utilizado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2" name="Google Shape;292;p39"/>
          <p:cNvSpPr/>
          <p:nvPr/>
        </p:nvSpPr>
        <p:spPr>
          <a:xfrm>
            <a:off x="7068750" y="2051896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latin typeface="Raleway"/>
                <a:ea typeface="Raleway"/>
                <a:cs typeface="Raleway"/>
                <a:sym typeface="Raleway"/>
              </a:rPr>
              <a:t>Etapa 3:</a:t>
            </a:r>
            <a:endParaRPr b="1" sz="17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latin typeface="Raleway"/>
                <a:ea typeface="Raleway"/>
                <a:cs typeface="Raleway"/>
                <a:sym typeface="Raleway"/>
              </a:rPr>
              <a:t>Análisis de resultados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3" name="Google Shape;293;p39"/>
          <p:cNvSpPr/>
          <p:nvPr/>
        </p:nvSpPr>
        <p:spPr>
          <a:xfrm>
            <a:off x="3881037" y="2051920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Etapa 2:</a:t>
            </a:r>
            <a:endParaRPr b="1" sz="170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Entrenamiento y prueba</a:t>
            </a:r>
            <a:endParaRPr sz="130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4" name="Google Shape;294;p39"/>
          <p:cNvSpPr txBox="1"/>
          <p:nvPr>
            <p:ph type="title"/>
          </p:nvPr>
        </p:nvSpPr>
        <p:spPr>
          <a:xfrm>
            <a:off x="794700" y="557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Etapas de la implementación del proyecto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0"/>
          <p:cNvSpPr txBox="1"/>
          <p:nvPr>
            <p:ph type="title"/>
          </p:nvPr>
        </p:nvSpPr>
        <p:spPr>
          <a:xfrm>
            <a:off x="349875" y="606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Que buscamos predecir ?</a:t>
            </a:r>
            <a:endParaRPr/>
          </a:p>
        </p:txBody>
      </p:sp>
      <p:pic>
        <p:nvPicPr>
          <p:cNvPr id="300" name="Google Shape;30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4500"/>
            <a:ext cx="8466154" cy="36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1"/>
          <p:cNvSpPr txBox="1"/>
          <p:nvPr>
            <p:ph type="title"/>
          </p:nvPr>
        </p:nvSpPr>
        <p:spPr>
          <a:xfrm>
            <a:off x="549125" y="606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Que significa la columna share?</a:t>
            </a:r>
            <a:endParaRPr/>
          </a:p>
        </p:txBody>
      </p:sp>
      <p:sp>
        <p:nvSpPr>
          <p:cNvPr id="306" name="Google Shape;306;p41"/>
          <p:cNvSpPr txBox="1"/>
          <p:nvPr>
            <p:ph idx="1" type="body"/>
          </p:nvPr>
        </p:nvSpPr>
        <p:spPr>
          <a:xfrm>
            <a:off x="727650" y="1494500"/>
            <a:ext cx="7688700" cy="19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La columna "Share" en la tabla representa la proporción de votos obtenidos por un jugador en relación al total posible. 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07" name="Google Shape;30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3213" y="2571750"/>
            <a:ext cx="4200525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2"/>
          <p:cNvSpPr txBox="1"/>
          <p:nvPr>
            <p:ph idx="1" type="body"/>
          </p:nvPr>
        </p:nvSpPr>
        <p:spPr>
          <a:xfrm>
            <a:off x="526850" y="575900"/>
            <a:ext cx="7688700" cy="6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-419" sz="2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Cómo</a:t>
            </a:r>
            <a:r>
              <a:rPr b="1" lang="es-419" sz="2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medimos que tan bueno es el modelo?</a:t>
            </a:r>
            <a:endParaRPr sz="1000"/>
          </a:p>
        </p:txBody>
      </p:sp>
      <p:sp>
        <p:nvSpPr>
          <p:cNvPr id="313" name="Google Shape;313;p42"/>
          <p:cNvSpPr txBox="1"/>
          <p:nvPr>
            <p:ph idx="1" type="body"/>
          </p:nvPr>
        </p:nvSpPr>
        <p:spPr>
          <a:xfrm>
            <a:off x="727650" y="1600075"/>
            <a:ext cx="7688700" cy="27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lang="es-419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Para cada año se tienen 100 patrones de entrenamiento. Para cada uno calcular con el modelo el share</a:t>
            </a:r>
            <a:endParaRPr b="1"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lang="es-419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Ordenar los valores de share de forma descendiente para obtener un ranking.</a:t>
            </a:r>
            <a:endParaRPr b="1"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b="1" lang="es-419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Comparar el ranking obtenido con el ranking real. El primero de cada ranking es el MVP</a:t>
            </a:r>
            <a:endParaRPr b="1"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b="1" lang="es-419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Si el MVP coincide en ambas tablas, la </a:t>
            </a:r>
            <a:r>
              <a:rPr b="1" lang="es-419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predicción</a:t>
            </a:r>
            <a:r>
              <a:rPr b="1" lang="es-419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fue correcta</a:t>
            </a:r>
            <a:endParaRPr b="1"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b="1" lang="es-419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Si el MVP no coincide, la </a:t>
            </a:r>
            <a:r>
              <a:rPr b="1" lang="es-419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predicción</a:t>
            </a:r>
            <a:r>
              <a:rPr b="1" lang="es-419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fue incorrecta y se revisa por cuanto lo fue.</a:t>
            </a:r>
            <a:endParaRPr b="1"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b="1" lang="es-419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 realiza para cada año </a:t>
            </a:r>
            <a:endParaRPr b="1"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b="1" lang="es-419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 promedia el porcentaje de acierto de todos los años</a:t>
            </a:r>
            <a:endParaRPr b="1"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3"/>
          <p:cNvSpPr txBox="1"/>
          <p:nvPr/>
        </p:nvSpPr>
        <p:spPr>
          <a:xfrm>
            <a:off x="1282175" y="1852625"/>
            <a:ext cx="546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9" name="Google Shape;319;p43"/>
          <p:cNvSpPr txBox="1"/>
          <p:nvPr>
            <p:ph idx="1" type="body"/>
          </p:nvPr>
        </p:nvSpPr>
        <p:spPr>
          <a:xfrm>
            <a:off x="1375500" y="1312100"/>
            <a:ext cx="7371900" cy="21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15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1980 - 2014: Entrenamiento</a:t>
            </a:r>
            <a:endParaRPr b="1" sz="315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15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2014 - 2024: Testeo</a:t>
            </a:r>
            <a:endParaRPr b="1" sz="315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4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b="1" sz="2004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20" name="Google Shape;320;p43"/>
          <p:cNvSpPr txBox="1"/>
          <p:nvPr>
            <p:ph type="title"/>
          </p:nvPr>
        </p:nvSpPr>
        <p:spPr>
          <a:xfrm>
            <a:off x="794700" y="557450"/>
            <a:ext cx="8063700" cy="8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840"/>
              <a:t>Selección</a:t>
            </a:r>
            <a:r>
              <a:rPr lang="es-419" sz="2840"/>
              <a:t> de patrones para el entrenamiento</a:t>
            </a:r>
            <a:endParaRPr sz="2840"/>
          </a:p>
        </p:txBody>
      </p:sp>
      <p:pic>
        <p:nvPicPr>
          <p:cNvPr id="321" name="Google Shape;3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7797" y="2237525"/>
            <a:ext cx="2228400" cy="222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3"/>
          <p:cNvSpPr txBox="1"/>
          <p:nvPr/>
        </p:nvSpPr>
        <p:spPr>
          <a:xfrm>
            <a:off x="596800" y="4308575"/>
            <a:ext cx="8368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5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Con las 80 </a:t>
            </a:r>
            <a:r>
              <a:rPr b="1" lang="es-419" sz="225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características</a:t>
            </a:r>
            <a:r>
              <a:rPr b="1" lang="es-419" sz="225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seleccionadas desde 1980!!</a:t>
            </a:r>
            <a:r>
              <a:rPr lang="es-419" sz="4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!</a:t>
            </a:r>
            <a:endParaRPr sz="4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4"/>
          <p:cNvSpPr txBox="1"/>
          <p:nvPr/>
        </p:nvSpPr>
        <p:spPr>
          <a:xfrm>
            <a:off x="1282175" y="1852625"/>
            <a:ext cx="546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8" name="Google Shape;328;p44"/>
          <p:cNvSpPr txBox="1"/>
          <p:nvPr>
            <p:ph idx="1" type="body"/>
          </p:nvPr>
        </p:nvSpPr>
        <p:spPr>
          <a:xfrm>
            <a:off x="329375" y="1921325"/>
            <a:ext cx="7371900" cy="21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15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Parámetros</a:t>
            </a:r>
            <a:r>
              <a:rPr b="1" lang="es-419" sz="315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Variables:</a:t>
            </a:r>
            <a:endParaRPr b="1" sz="315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5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3645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Char char="●"/>
            </a:pPr>
            <a:r>
              <a:rPr b="1" lang="es-419" sz="315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Cantidad de capas ocultas</a:t>
            </a:r>
            <a:endParaRPr b="1" sz="315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5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3645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Char char="●"/>
            </a:pPr>
            <a:r>
              <a:rPr b="1" lang="es-419" sz="315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Cantidad de neuronas en las capas ocultas</a:t>
            </a:r>
            <a:endParaRPr b="1" sz="315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5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3645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Char char="●"/>
            </a:pPr>
            <a:r>
              <a:rPr b="1" lang="es-419" sz="315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Funcion de activacion</a:t>
            </a:r>
            <a:endParaRPr b="1" sz="315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57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4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4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50748"/>
              <a:buNone/>
            </a:pPr>
            <a:r>
              <a:t/>
            </a:r>
            <a:endParaRPr b="1" sz="2004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29" name="Google Shape;329;p44"/>
          <p:cNvSpPr txBox="1"/>
          <p:nvPr>
            <p:ph type="title"/>
          </p:nvPr>
        </p:nvSpPr>
        <p:spPr>
          <a:xfrm>
            <a:off x="794700" y="557450"/>
            <a:ext cx="8063700" cy="8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640"/>
              <a:t>Primera prueba: </a:t>
            </a:r>
            <a:r>
              <a:rPr lang="es-419" sz="2640"/>
              <a:t>Perceptrón</a:t>
            </a:r>
            <a:r>
              <a:rPr lang="es-419" sz="2640"/>
              <a:t> Multicapa</a:t>
            </a:r>
            <a:endParaRPr sz="264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5"/>
          <p:cNvSpPr txBox="1"/>
          <p:nvPr/>
        </p:nvSpPr>
        <p:spPr>
          <a:xfrm>
            <a:off x="1282175" y="1852625"/>
            <a:ext cx="546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5" name="Google Shape;335;p45"/>
          <p:cNvSpPr txBox="1"/>
          <p:nvPr>
            <p:ph idx="1" type="body"/>
          </p:nvPr>
        </p:nvSpPr>
        <p:spPr>
          <a:xfrm>
            <a:off x="184050" y="1509000"/>
            <a:ext cx="8674500" cy="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1 Capa oculta de 50 neuronas con </a:t>
            </a:r>
            <a:endParaRPr b="1" sz="8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función de activación sigmoide</a:t>
            </a:r>
            <a:endParaRPr b="1" sz="8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757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205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4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50748"/>
              <a:buNone/>
            </a:pPr>
            <a:r>
              <a:t/>
            </a:r>
            <a:endParaRPr b="1" sz="2004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36" name="Google Shape;336;p45"/>
          <p:cNvSpPr txBox="1"/>
          <p:nvPr>
            <p:ph type="title"/>
          </p:nvPr>
        </p:nvSpPr>
        <p:spPr>
          <a:xfrm>
            <a:off x="794700" y="557450"/>
            <a:ext cx="8063700" cy="8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640"/>
              <a:t>Primera prueba: Perceptrón Multicapa</a:t>
            </a:r>
            <a:endParaRPr sz="2640"/>
          </a:p>
        </p:txBody>
      </p:sp>
      <p:pic>
        <p:nvPicPr>
          <p:cNvPr id="337" name="Google Shape;33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9800" y="2237400"/>
            <a:ext cx="4378158" cy="260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"/>
          <p:cNvSpPr txBox="1"/>
          <p:nvPr/>
        </p:nvSpPr>
        <p:spPr>
          <a:xfrm>
            <a:off x="1282175" y="1852625"/>
            <a:ext cx="546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3" name="Google Shape;343;p46"/>
          <p:cNvSpPr txBox="1"/>
          <p:nvPr>
            <p:ph idx="1" type="body"/>
          </p:nvPr>
        </p:nvSpPr>
        <p:spPr>
          <a:xfrm>
            <a:off x="184050" y="1509000"/>
            <a:ext cx="8674500" cy="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1 Capa oculta de 50 neuronas con </a:t>
            </a:r>
            <a:endParaRPr b="1" sz="8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función de activación ReLu (default de SKLearn)</a:t>
            </a:r>
            <a:endParaRPr b="1" sz="8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757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205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4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50748"/>
              <a:buNone/>
            </a:pPr>
            <a:r>
              <a:t/>
            </a:r>
            <a:endParaRPr b="1" sz="2004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4" name="Google Shape;344;p46"/>
          <p:cNvSpPr txBox="1"/>
          <p:nvPr>
            <p:ph type="title"/>
          </p:nvPr>
        </p:nvSpPr>
        <p:spPr>
          <a:xfrm>
            <a:off x="794700" y="557450"/>
            <a:ext cx="8063700" cy="8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640"/>
              <a:t>Primera prueba: Perceptrón Multicapa</a:t>
            </a:r>
            <a:endParaRPr sz="2640"/>
          </a:p>
        </p:txBody>
      </p:sp>
      <p:pic>
        <p:nvPicPr>
          <p:cNvPr id="345" name="Google Shape;34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6200" y="2366950"/>
            <a:ext cx="4384003" cy="260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/>
          <p:nvPr/>
        </p:nvSpPr>
        <p:spPr>
          <a:xfrm>
            <a:off x="1282175" y="1852625"/>
            <a:ext cx="546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1" name="Google Shape;351;p47"/>
          <p:cNvSpPr txBox="1"/>
          <p:nvPr>
            <p:ph idx="1" type="body"/>
          </p:nvPr>
        </p:nvSpPr>
        <p:spPr>
          <a:xfrm>
            <a:off x="184050" y="1509000"/>
            <a:ext cx="8674500" cy="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r>
              <a:rPr b="1" lang="es-419" sz="8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capas ocultas con 50 y 10 neuronas con </a:t>
            </a:r>
            <a:endParaRPr b="1" sz="8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función de activación ReLu (default de SKLearn)</a:t>
            </a:r>
            <a:endParaRPr b="1" sz="8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757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205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4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50748"/>
              <a:buNone/>
            </a:pPr>
            <a:r>
              <a:t/>
            </a:r>
            <a:endParaRPr b="1" sz="2004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2" name="Google Shape;352;p47"/>
          <p:cNvSpPr txBox="1"/>
          <p:nvPr>
            <p:ph type="title"/>
          </p:nvPr>
        </p:nvSpPr>
        <p:spPr>
          <a:xfrm>
            <a:off x="794700" y="557450"/>
            <a:ext cx="8063700" cy="8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640"/>
              <a:t>Primera prueba: Perceptrón Multicapa</a:t>
            </a:r>
            <a:endParaRPr sz="2640"/>
          </a:p>
        </p:txBody>
      </p:sp>
      <p:pic>
        <p:nvPicPr>
          <p:cNvPr id="353" name="Google Shape;35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5950" y="2366950"/>
            <a:ext cx="4384003" cy="260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8"/>
          <p:cNvSpPr txBox="1"/>
          <p:nvPr/>
        </p:nvSpPr>
        <p:spPr>
          <a:xfrm>
            <a:off x="1282175" y="1852625"/>
            <a:ext cx="546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9" name="Google Shape;359;p48"/>
          <p:cNvSpPr txBox="1"/>
          <p:nvPr>
            <p:ph idx="1" type="body"/>
          </p:nvPr>
        </p:nvSpPr>
        <p:spPr>
          <a:xfrm>
            <a:off x="525675" y="1661075"/>
            <a:ext cx="23793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s-419" sz="1375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1 Capa oculta de 50 neuronas con </a:t>
            </a:r>
            <a:endParaRPr b="1" sz="1375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s-419" sz="1375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función de activación sigmoide</a:t>
            </a:r>
            <a:endParaRPr b="1" sz="1375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2475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2989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260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80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254"/>
              <a:buNone/>
            </a:pPr>
            <a:r>
              <a:t/>
            </a:r>
            <a:endParaRPr b="1" sz="80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60" name="Google Shape;360;p48"/>
          <p:cNvSpPr txBox="1"/>
          <p:nvPr>
            <p:ph type="title"/>
          </p:nvPr>
        </p:nvSpPr>
        <p:spPr>
          <a:xfrm>
            <a:off x="794700" y="557450"/>
            <a:ext cx="8063700" cy="8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640"/>
              <a:t>Primera prueba: Perceptrón Multicapa</a:t>
            </a:r>
            <a:endParaRPr sz="2640"/>
          </a:p>
        </p:txBody>
      </p:sp>
      <p:pic>
        <p:nvPicPr>
          <p:cNvPr id="361" name="Google Shape;36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050" y="2571750"/>
            <a:ext cx="2901199" cy="17236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8"/>
          <p:cNvSpPr txBox="1"/>
          <p:nvPr>
            <p:ph idx="1" type="body"/>
          </p:nvPr>
        </p:nvSpPr>
        <p:spPr>
          <a:xfrm>
            <a:off x="3358725" y="1761325"/>
            <a:ext cx="27759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s-419" sz="1375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1 Capa oculta de 50 neuronas con </a:t>
            </a:r>
            <a:endParaRPr b="1" sz="1375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s-419" sz="1375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función de activación ReLu </a:t>
            </a:r>
            <a:endParaRPr b="1" sz="1175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389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00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254"/>
              <a:buNone/>
            </a:pPr>
            <a:r>
              <a:t/>
            </a:r>
            <a:endParaRPr b="1" sz="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63" name="Google Shape;36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9500" y="2529326"/>
            <a:ext cx="2765124" cy="17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8875" y="2529325"/>
            <a:ext cx="2905114" cy="172367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8"/>
          <p:cNvSpPr txBox="1"/>
          <p:nvPr>
            <p:ph idx="1" type="body"/>
          </p:nvPr>
        </p:nvSpPr>
        <p:spPr>
          <a:xfrm>
            <a:off x="6397375" y="1781125"/>
            <a:ext cx="2588100" cy="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s-419" sz="975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2 capas ocultas con 50 y 10 neuronas con </a:t>
            </a:r>
            <a:endParaRPr b="1" sz="975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s-419" sz="975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función de activación ReLu (default de SKLearn)</a:t>
            </a:r>
            <a:endParaRPr b="1" sz="975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975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489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10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254"/>
              <a:buNone/>
            </a:pPr>
            <a:r>
              <a:t/>
            </a:r>
            <a:endParaRPr b="1" sz="1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9"/>
          <p:cNvSpPr txBox="1"/>
          <p:nvPr>
            <p:ph idx="1" type="body"/>
          </p:nvPr>
        </p:nvSpPr>
        <p:spPr>
          <a:xfrm>
            <a:off x="320675" y="1912625"/>
            <a:ext cx="5835000" cy="16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15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Parámetros Variables:</a:t>
            </a:r>
            <a:endParaRPr b="1" sz="315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5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365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Char char="●"/>
            </a:pPr>
            <a:r>
              <a:rPr b="1" lang="es-419" sz="315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Cantidad de </a:t>
            </a:r>
            <a:r>
              <a:rPr b="1" lang="es-419" sz="315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árboles</a:t>
            </a:r>
            <a:r>
              <a:rPr b="1" lang="es-419" sz="315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en el bosque</a:t>
            </a:r>
            <a:endParaRPr b="1" sz="315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8365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aleway"/>
              <a:buChar char="●"/>
            </a:pPr>
            <a:r>
              <a:rPr b="1" lang="es-419" sz="315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Profundidad del </a:t>
            </a:r>
            <a:r>
              <a:rPr b="1" lang="es-419" sz="315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árbol</a:t>
            </a:r>
            <a:endParaRPr b="1" sz="315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4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4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50748"/>
              <a:buNone/>
            </a:pPr>
            <a:r>
              <a:t/>
            </a:r>
            <a:endParaRPr b="1" sz="2004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1" name="Google Shape;371;p49"/>
          <p:cNvSpPr txBox="1"/>
          <p:nvPr>
            <p:ph type="title"/>
          </p:nvPr>
        </p:nvSpPr>
        <p:spPr>
          <a:xfrm>
            <a:off x="794700" y="557450"/>
            <a:ext cx="8063700" cy="8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640"/>
              <a:t>Segunda </a:t>
            </a:r>
            <a:r>
              <a:rPr lang="es-419" sz="2640"/>
              <a:t>prueba: Random Forest</a:t>
            </a:r>
            <a:endParaRPr sz="264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0"/>
          <p:cNvSpPr txBox="1"/>
          <p:nvPr/>
        </p:nvSpPr>
        <p:spPr>
          <a:xfrm>
            <a:off x="1282175" y="1852625"/>
            <a:ext cx="546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7" name="Google Shape;377;p50"/>
          <p:cNvSpPr txBox="1"/>
          <p:nvPr>
            <p:ph idx="1" type="body"/>
          </p:nvPr>
        </p:nvSpPr>
        <p:spPr>
          <a:xfrm>
            <a:off x="567650" y="1509125"/>
            <a:ext cx="8674500" cy="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100</a:t>
            </a:r>
            <a:r>
              <a:rPr b="1" lang="es-419" sz="8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árboles de decisión y 10 de profundidad máxima</a:t>
            </a:r>
            <a:endParaRPr b="1" sz="8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757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205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4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50748"/>
              <a:buNone/>
            </a:pPr>
            <a:r>
              <a:t/>
            </a:r>
            <a:endParaRPr b="1" sz="2004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8" name="Google Shape;378;p50"/>
          <p:cNvSpPr txBox="1"/>
          <p:nvPr>
            <p:ph type="title"/>
          </p:nvPr>
        </p:nvSpPr>
        <p:spPr>
          <a:xfrm>
            <a:off x="794700" y="557450"/>
            <a:ext cx="8063700" cy="8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640"/>
              <a:t>Segunda prueba: Random Forest</a:t>
            </a:r>
            <a:endParaRPr sz="2640"/>
          </a:p>
        </p:txBody>
      </p:sp>
      <p:pic>
        <p:nvPicPr>
          <p:cNvPr id="379" name="Google Shape;37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2925" y="2171975"/>
            <a:ext cx="4378158" cy="260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1"/>
          <p:cNvSpPr txBox="1"/>
          <p:nvPr/>
        </p:nvSpPr>
        <p:spPr>
          <a:xfrm>
            <a:off x="1282175" y="1852625"/>
            <a:ext cx="546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5" name="Google Shape;385;p51"/>
          <p:cNvSpPr txBox="1"/>
          <p:nvPr>
            <p:ph type="title"/>
          </p:nvPr>
        </p:nvSpPr>
        <p:spPr>
          <a:xfrm>
            <a:off x="794700" y="557450"/>
            <a:ext cx="8063700" cy="8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640"/>
              <a:t>Random Forest vs Multicapa</a:t>
            </a:r>
            <a:endParaRPr sz="2640"/>
          </a:p>
        </p:txBody>
      </p:sp>
      <p:pic>
        <p:nvPicPr>
          <p:cNvPr id="386" name="Google Shape;38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50" y="2162500"/>
            <a:ext cx="4378158" cy="260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1775" y="2162500"/>
            <a:ext cx="4378158" cy="260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2"/>
          <p:cNvSpPr txBox="1"/>
          <p:nvPr/>
        </p:nvSpPr>
        <p:spPr>
          <a:xfrm>
            <a:off x="1282175" y="1852625"/>
            <a:ext cx="546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3" name="Google Shape;393;p52"/>
          <p:cNvSpPr txBox="1"/>
          <p:nvPr>
            <p:ph idx="1" type="body"/>
          </p:nvPr>
        </p:nvSpPr>
        <p:spPr>
          <a:xfrm>
            <a:off x="489300" y="1509125"/>
            <a:ext cx="8674500" cy="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100 </a:t>
            </a:r>
            <a:r>
              <a:rPr b="1" lang="es-419" sz="8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árboles</a:t>
            </a:r>
            <a:r>
              <a:rPr b="1" lang="es-419" sz="8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de </a:t>
            </a:r>
            <a:r>
              <a:rPr b="1" lang="es-419" sz="8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decisión</a:t>
            </a:r>
            <a:r>
              <a:rPr b="1" lang="es-419" sz="8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y 20 de profundidad </a:t>
            </a:r>
            <a:r>
              <a:rPr b="1" lang="es-419" sz="8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máxima</a:t>
            </a:r>
            <a:endParaRPr b="1" sz="8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757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205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4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50748"/>
              <a:buNone/>
            </a:pPr>
            <a:r>
              <a:t/>
            </a:r>
            <a:endParaRPr b="1" sz="2004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94" name="Google Shape;394;p52"/>
          <p:cNvSpPr txBox="1"/>
          <p:nvPr>
            <p:ph type="title"/>
          </p:nvPr>
        </p:nvSpPr>
        <p:spPr>
          <a:xfrm>
            <a:off x="794700" y="557450"/>
            <a:ext cx="8063700" cy="8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640"/>
              <a:t>Segunda </a:t>
            </a:r>
            <a:r>
              <a:rPr lang="es-419" sz="2640"/>
              <a:t>prueba: Random Forest</a:t>
            </a:r>
            <a:endParaRPr sz="2640"/>
          </a:p>
        </p:txBody>
      </p:sp>
      <p:pic>
        <p:nvPicPr>
          <p:cNvPr id="395" name="Google Shape;39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2650" y="2084775"/>
            <a:ext cx="4378158" cy="260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3"/>
          <p:cNvSpPr/>
          <p:nvPr/>
        </p:nvSpPr>
        <p:spPr>
          <a:xfrm>
            <a:off x="636375" y="2051926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Etapa 1:</a:t>
            </a:r>
            <a:endParaRPr b="1" sz="190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9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Creación de la base de datos</a:t>
            </a:r>
            <a:endParaRPr b="1" sz="190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01" name="Google Shape;401;p53"/>
          <p:cNvSpPr/>
          <p:nvPr/>
        </p:nvSpPr>
        <p:spPr>
          <a:xfrm>
            <a:off x="3881037" y="2051920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Etapa 2:</a:t>
            </a:r>
            <a:endParaRPr b="1" sz="170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Entrenamiento del modelo utilizado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02" name="Google Shape;402;p53"/>
          <p:cNvSpPr/>
          <p:nvPr/>
        </p:nvSpPr>
        <p:spPr>
          <a:xfrm>
            <a:off x="7068750" y="2051896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Etapa 3:</a:t>
            </a:r>
            <a:endParaRPr b="1" sz="170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Análisis de resultados</a:t>
            </a:r>
            <a:endParaRPr sz="150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03" name="Google Shape;403;p53"/>
          <p:cNvSpPr/>
          <p:nvPr/>
        </p:nvSpPr>
        <p:spPr>
          <a:xfrm>
            <a:off x="3881037" y="2051920"/>
            <a:ext cx="1752600" cy="16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Etapa 2:</a:t>
            </a:r>
            <a:endParaRPr b="1" sz="170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0000FF"/>
                </a:solidFill>
                <a:latin typeface="Raleway"/>
                <a:ea typeface="Raleway"/>
                <a:cs typeface="Raleway"/>
                <a:sym typeface="Raleway"/>
              </a:rPr>
              <a:t>Entrenamiento y prueba</a:t>
            </a:r>
            <a:endParaRPr sz="1300">
              <a:solidFill>
                <a:srgbClr val="0000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04" name="Google Shape;404;p53"/>
          <p:cNvSpPr txBox="1"/>
          <p:nvPr>
            <p:ph type="title"/>
          </p:nvPr>
        </p:nvSpPr>
        <p:spPr>
          <a:xfrm>
            <a:off x="794700" y="557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Etapas de la implementación del proyecto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4"/>
          <p:cNvSpPr txBox="1"/>
          <p:nvPr/>
        </p:nvSpPr>
        <p:spPr>
          <a:xfrm>
            <a:off x="-130750" y="61895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Etapa 3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10" name="Google Shape;410;p54"/>
          <p:cNvSpPr txBox="1"/>
          <p:nvPr>
            <p:ph type="title"/>
          </p:nvPr>
        </p:nvSpPr>
        <p:spPr>
          <a:xfrm>
            <a:off x="184450" y="1359475"/>
            <a:ext cx="8063700" cy="8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640"/>
              <a:t>Mejor modelo:</a:t>
            </a:r>
            <a:r>
              <a:rPr lang="es-419" sz="1940"/>
              <a:t> Random Forest 100 </a:t>
            </a:r>
            <a:r>
              <a:rPr lang="es-419" sz="1940"/>
              <a:t>árboles</a:t>
            </a:r>
            <a:r>
              <a:rPr lang="es-419" sz="1940"/>
              <a:t> 20 de profundidad</a:t>
            </a:r>
            <a:endParaRPr sz="1940"/>
          </a:p>
        </p:txBody>
      </p:sp>
      <p:sp>
        <p:nvSpPr>
          <p:cNvPr id="411" name="Google Shape;411;p54"/>
          <p:cNvSpPr txBox="1"/>
          <p:nvPr>
            <p:ph type="title"/>
          </p:nvPr>
        </p:nvSpPr>
        <p:spPr>
          <a:xfrm>
            <a:off x="184450" y="1359475"/>
            <a:ext cx="8063700" cy="8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640"/>
              <a:t>Mejor modelo:</a:t>
            </a:r>
            <a:r>
              <a:rPr lang="es-419" sz="1940"/>
              <a:t> Random Forest 100 árboles 20 de profundidad</a:t>
            </a:r>
            <a:endParaRPr sz="1940"/>
          </a:p>
        </p:txBody>
      </p:sp>
      <p:sp>
        <p:nvSpPr>
          <p:cNvPr id="412" name="Google Shape;412;p54"/>
          <p:cNvSpPr txBox="1"/>
          <p:nvPr>
            <p:ph type="title"/>
          </p:nvPr>
        </p:nvSpPr>
        <p:spPr>
          <a:xfrm>
            <a:off x="184450" y="1973925"/>
            <a:ext cx="8063700" cy="8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640"/>
              <a:t>Tasa de acierto: </a:t>
            </a:r>
            <a:r>
              <a:rPr lang="es-419" sz="2640">
                <a:solidFill>
                  <a:schemeClr val="lt1"/>
                </a:solidFill>
              </a:rPr>
              <a:t>94,5%</a:t>
            </a:r>
            <a:endParaRPr sz="264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5"/>
          <p:cNvSpPr txBox="1"/>
          <p:nvPr/>
        </p:nvSpPr>
        <p:spPr>
          <a:xfrm>
            <a:off x="-130750" y="61895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Etapa 3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18" name="Google Shape;418;p55"/>
          <p:cNvSpPr txBox="1"/>
          <p:nvPr>
            <p:ph type="title"/>
          </p:nvPr>
        </p:nvSpPr>
        <p:spPr>
          <a:xfrm>
            <a:off x="184450" y="1359475"/>
            <a:ext cx="8063700" cy="8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640"/>
              <a:t>Mejor modelo:</a:t>
            </a:r>
            <a:r>
              <a:rPr lang="es-419" sz="1940"/>
              <a:t> Random Forest 100 árboles 20 de profundidad</a:t>
            </a:r>
            <a:endParaRPr sz="1940"/>
          </a:p>
        </p:txBody>
      </p:sp>
      <p:sp>
        <p:nvSpPr>
          <p:cNvPr id="419" name="Google Shape;419;p55"/>
          <p:cNvSpPr txBox="1"/>
          <p:nvPr>
            <p:ph type="title"/>
          </p:nvPr>
        </p:nvSpPr>
        <p:spPr>
          <a:xfrm>
            <a:off x="184450" y="1973925"/>
            <a:ext cx="8063700" cy="8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640"/>
              <a:t>Tasa de acierto: </a:t>
            </a:r>
            <a:r>
              <a:rPr lang="es-419" sz="2640">
                <a:solidFill>
                  <a:srgbClr val="6AA84F"/>
                </a:solidFill>
              </a:rPr>
              <a:t>94,5%</a:t>
            </a:r>
            <a:endParaRPr sz="2640">
              <a:solidFill>
                <a:srgbClr val="6AA84F"/>
              </a:solidFill>
            </a:endParaRPr>
          </a:p>
        </p:txBody>
      </p:sp>
      <p:pic>
        <p:nvPicPr>
          <p:cNvPr id="420" name="Google Shape;42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0100" y="2510725"/>
            <a:ext cx="4045975" cy="249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6"/>
          <p:cNvSpPr txBox="1"/>
          <p:nvPr>
            <p:ph type="title"/>
          </p:nvPr>
        </p:nvSpPr>
        <p:spPr>
          <a:xfrm>
            <a:off x="729450" y="622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Etapa 3 Análisis de resultados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56"/>
          <p:cNvSpPr txBox="1"/>
          <p:nvPr>
            <p:ph idx="1" type="body"/>
          </p:nvPr>
        </p:nvSpPr>
        <p:spPr>
          <a:xfrm>
            <a:off x="0" y="1500000"/>
            <a:ext cx="9050100" cy="3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 </a:t>
            </a: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qué</a:t>
            </a: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se debe la tasa de acierto? </a:t>
            </a: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Posibles motivos:</a:t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937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Char char="●"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Buena seleccion de caracteristicas</a:t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Char char="●"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Normalización anual de las estadísticas</a:t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Char char="●"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Propiedades del random forest</a:t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Char char="●"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Alta dependencia del premio hacia las estadísticas</a:t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7"/>
          <p:cNvSpPr txBox="1"/>
          <p:nvPr>
            <p:ph type="title"/>
          </p:nvPr>
        </p:nvSpPr>
        <p:spPr>
          <a:xfrm>
            <a:off x="729450" y="622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Etapa 3 </a:t>
            </a:r>
            <a:r>
              <a:rPr lang="es-419"/>
              <a:t>Análisis de resultados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57"/>
          <p:cNvSpPr txBox="1"/>
          <p:nvPr>
            <p:ph idx="1" type="body"/>
          </p:nvPr>
        </p:nvSpPr>
        <p:spPr>
          <a:xfrm>
            <a:off x="596600" y="1500000"/>
            <a:ext cx="7688700" cy="3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Utilizando este modelo </a:t>
            </a: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además</a:t>
            </a: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se puede predecir:</a:t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93700" lvl="0" marL="457200" rtl="0" algn="l">
              <a:spcBef>
                <a:spcPts val="1200"/>
              </a:spcBef>
              <a:spcAft>
                <a:spcPts val="0"/>
              </a:spcAft>
              <a:buClr>
                <a:srgbClr val="4A86E8"/>
              </a:buClr>
              <a:buSzPts val="2600"/>
              <a:buFont typeface="Raleway"/>
              <a:buChar char="●"/>
            </a:pPr>
            <a:r>
              <a:rPr b="1" lang="es-419" sz="2600">
                <a:solidFill>
                  <a:srgbClr val="4A86E8"/>
                </a:solidFill>
                <a:latin typeface="Raleway"/>
                <a:ea typeface="Raleway"/>
                <a:cs typeface="Raleway"/>
                <a:sym typeface="Raleway"/>
              </a:rPr>
              <a:t>Jugador defensivo del año</a:t>
            </a:r>
            <a:endParaRPr b="1" sz="2600">
              <a:solidFill>
                <a:srgbClr val="4A86E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2600"/>
              <a:buFont typeface="Raleway"/>
              <a:buChar char="●"/>
            </a:pPr>
            <a:r>
              <a:rPr b="1" lang="es-419" sz="2600">
                <a:solidFill>
                  <a:srgbClr val="4A86E8"/>
                </a:solidFill>
                <a:latin typeface="Raleway"/>
                <a:ea typeface="Raleway"/>
                <a:cs typeface="Raleway"/>
                <a:sym typeface="Raleway"/>
              </a:rPr>
              <a:t>Novato del año</a:t>
            </a:r>
            <a:endParaRPr b="1" sz="2600">
              <a:solidFill>
                <a:srgbClr val="4A86E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2600"/>
              <a:buFont typeface="Raleway"/>
              <a:buChar char="●"/>
            </a:pPr>
            <a:r>
              <a:rPr b="1" lang="es-419" sz="2600">
                <a:solidFill>
                  <a:srgbClr val="4A86E8"/>
                </a:solidFill>
                <a:latin typeface="Raleway"/>
                <a:ea typeface="Raleway"/>
                <a:cs typeface="Raleway"/>
                <a:sym typeface="Raleway"/>
              </a:rPr>
              <a:t>Sexto hombre del año (mejor suplente)</a:t>
            </a:r>
            <a:endParaRPr b="1" sz="2600">
              <a:solidFill>
                <a:srgbClr val="4A86E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Y </a:t>
            </a: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más</a:t>
            </a:r>
            <a:r>
              <a:rPr b="1" lang="es-419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…</a:t>
            </a:r>
            <a:endParaRPr b="1" sz="2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