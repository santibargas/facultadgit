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5143500" cx="9144000"/>
  <p:notesSz cx="6858000" cy="9144000"/>
  <p:embeddedFontLst>
    <p:embeddedFont>
      <p:font typeface="Economica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font" Target="fonts/Economica-bold.fntdata"/><Relationship Id="rId41" Type="http://schemas.openxmlformats.org/officeDocument/2006/relationships/font" Target="fonts/Economica-regular.fntdata"/><Relationship Id="rId22" Type="http://schemas.openxmlformats.org/officeDocument/2006/relationships/slide" Target="slides/slide18.xml"/><Relationship Id="rId44" Type="http://schemas.openxmlformats.org/officeDocument/2006/relationships/font" Target="fonts/Economica-boldItalic.fntdata"/><Relationship Id="rId21" Type="http://schemas.openxmlformats.org/officeDocument/2006/relationships/slide" Target="slides/slide17.xml"/><Relationship Id="rId43" Type="http://schemas.openxmlformats.org/officeDocument/2006/relationships/font" Target="fonts/Economica-italic.fntdata"/><Relationship Id="rId24" Type="http://schemas.openxmlformats.org/officeDocument/2006/relationships/slide" Target="slides/slide20.xml"/><Relationship Id="rId46" Type="http://schemas.openxmlformats.org/officeDocument/2006/relationships/font" Target="fonts/OpenSans-bold.fntdata"/><Relationship Id="rId23" Type="http://schemas.openxmlformats.org/officeDocument/2006/relationships/slide" Target="slides/slide19.xml"/><Relationship Id="rId45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schemas.openxmlformats.org/officeDocument/2006/relationships/font" Target="fonts/OpenSans-boldItalic.fntdata"/><Relationship Id="rId25" Type="http://schemas.openxmlformats.org/officeDocument/2006/relationships/slide" Target="slides/slide21.xml"/><Relationship Id="rId47" Type="http://schemas.openxmlformats.org/officeDocument/2006/relationships/font" Target="fonts/OpenSans-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a164246c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a164246c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a164246c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a164246c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a12a5dc6d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a12a5dc6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a12a5dc6d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a12a5dc6d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12a5dc6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12a5dc6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a164246c4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4a164246c4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a12a5dc6d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a12a5dc6d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140e1c15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a140e1c15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12a5dc6d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a12a5dc6d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478273e00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478273e00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a12a5dc6d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a12a5dc6d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a12a5dc6d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a12a5dc6d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a12a5dc6d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a12a5dc6d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a12a5dc6d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a12a5dc6d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a12a5dc6d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a12a5dc6d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a12a5dc6d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a12a5dc6d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a12a5dc6de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a12a5dc6d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a12a5dc6de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a12a5dc6d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9daecd5c2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9daecd5c2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a12a5dc6de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a12a5dc6de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a12a5dc6de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a12a5dc6de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a12a5dc6de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a12a5dc6de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a12a5dc6de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a12a5dc6de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a12a5dc6de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a12a5dc6de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a12a5dc6de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a12a5dc6de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a12a5dc6de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a12a5dc6de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a12a5dc6de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a12a5dc6de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9daecd5c2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9daecd5c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a1bbdb5d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4a1bbdb5d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478273e00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478273e00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478273e00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478273e00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a12a5dc6de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a12a5dc6d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a140e1c1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a140e1c1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a12a5dc6de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a12a5dc6d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a12a5dc6de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a12a5dc6de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5fed93ba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5fed93ba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jpg"/><Relationship Id="rId10" Type="http://schemas.openxmlformats.org/officeDocument/2006/relationships/image" Target="../media/image4.jpg"/><Relationship Id="rId13" Type="http://schemas.openxmlformats.org/officeDocument/2006/relationships/image" Target="../media/image7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Relationship Id="rId4" Type="http://schemas.openxmlformats.org/officeDocument/2006/relationships/image" Target="../media/image15.jpg"/><Relationship Id="rId9" Type="http://schemas.openxmlformats.org/officeDocument/2006/relationships/image" Target="../media/image11.jpg"/><Relationship Id="rId15" Type="http://schemas.openxmlformats.org/officeDocument/2006/relationships/image" Target="../media/image8.png"/><Relationship Id="rId14" Type="http://schemas.openxmlformats.org/officeDocument/2006/relationships/image" Target="../media/image18.jpg"/><Relationship Id="rId17" Type="http://schemas.openxmlformats.org/officeDocument/2006/relationships/image" Target="../media/image32.png"/><Relationship Id="rId16" Type="http://schemas.openxmlformats.org/officeDocument/2006/relationships/image" Target="../media/image6.jpg"/><Relationship Id="rId5" Type="http://schemas.openxmlformats.org/officeDocument/2006/relationships/image" Target="../media/image12.jpg"/><Relationship Id="rId6" Type="http://schemas.openxmlformats.org/officeDocument/2006/relationships/image" Target="../media/image26.jpg"/><Relationship Id="rId7" Type="http://schemas.openxmlformats.org/officeDocument/2006/relationships/image" Target="../media/image19.png"/><Relationship Id="rId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lbZGEEm1fWugl-ljAhbz-M5T_f74rM6o/view" TargetMode="External"/><Relationship Id="rId4" Type="http://schemas.openxmlformats.org/officeDocument/2006/relationships/image" Target="../media/image1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6.jpg"/><Relationship Id="rId4" Type="http://schemas.openxmlformats.org/officeDocument/2006/relationships/image" Target="../media/image29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23.png"/><Relationship Id="rId5" Type="http://schemas.openxmlformats.org/officeDocument/2006/relationships/image" Target="../media/image22.jpg"/><Relationship Id="rId6" Type="http://schemas.openxmlformats.org/officeDocument/2006/relationships/image" Target="../media/image24.png"/><Relationship Id="rId7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5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jpg"/><Relationship Id="rId4" Type="http://schemas.openxmlformats.org/officeDocument/2006/relationships/image" Target="../media/image55.jpg"/><Relationship Id="rId5" Type="http://schemas.openxmlformats.org/officeDocument/2006/relationships/image" Target="../media/image7.png"/><Relationship Id="rId6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Relationship Id="rId5" Type="http://schemas.openxmlformats.org/officeDocument/2006/relationships/image" Target="../media/image30.jpg"/><Relationship Id="rId6" Type="http://schemas.openxmlformats.org/officeDocument/2006/relationships/image" Target="../media/image27.png"/><Relationship Id="rId7" Type="http://schemas.openxmlformats.org/officeDocument/2006/relationships/image" Target="../media/image2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Relationship Id="rId4" Type="http://schemas.openxmlformats.org/officeDocument/2006/relationships/image" Target="../media/image39.gif"/><Relationship Id="rId5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Relationship Id="rId4" Type="http://schemas.openxmlformats.org/officeDocument/2006/relationships/image" Target="../media/image1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png"/><Relationship Id="rId4" Type="http://schemas.openxmlformats.org/officeDocument/2006/relationships/image" Target="../media/image43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3.png"/><Relationship Id="rId4" Type="http://schemas.openxmlformats.org/officeDocument/2006/relationships/image" Target="../media/image49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jpg"/><Relationship Id="rId4" Type="http://schemas.openxmlformats.org/officeDocument/2006/relationships/image" Target="../media/image50.png"/><Relationship Id="rId5" Type="http://schemas.openxmlformats.org/officeDocument/2006/relationships/image" Target="../media/image4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drive.google.com/file/d/1JuxuK5NVQe8wTQ1iqOjs9dLeHqPsn5kj/view" TargetMode="External"/><Relationship Id="rId4" Type="http://schemas.openxmlformats.org/officeDocument/2006/relationships/image" Target="../media/image5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</a:t>
            </a:r>
            <a:r>
              <a:rPr lang="es-419"/>
              <a:t>istemas orientados a la neurorehabilitación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/>
              <a:t>E. Marcelo Albornoz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3"/>
          <p:cNvPicPr preferRelativeResize="0"/>
          <p:nvPr/>
        </p:nvPicPr>
        <p:blipFill rotWithShape="1">
          <a:blip r:embed="rId3">
            <a:alphaModFix/>
          </a:blip>
          <a:srcRect b="5490" l="0" r="0" t="0"/>
          <a:stretch/>
        </p:blipFill>
        <p:spPr>
          <a:xfrm>
            <a:off x="7218125" y="3003275"/>
            <a:ext cx="1526925" cy="16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200" y="3724850"/>
            <a:ext cx="184785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1938" y="3943925"/>
            <a:ext cx="10001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421600" y="741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Equipo</a:t>
            </a:r>
            <a:endParaRPr sz="3400"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-419" sz="1600">
                <a:solidFill>
                  <a:srgbClr val="000000"/>
                </a:solidFill>
              </a:rPr>
              <a:t>Dr. E. Marcelo Albornoz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-419" sz="1600"/>
              <a:t>Dr. César Martínez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Ing. Andrés Estepa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Ing. César Arrasin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Ing. Agustín Spahn 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Klgo. Sergio G. Sponton Piriz (CRI) y equipo</a:t>
            </a:r>
            <a:endParaRPr sz="1600"/>
          </a:p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36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21600" y="74150"/>
            <a:ext cx="8520600" cy="109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Centro de Rehabilitación e Investigación </a:t>
            </a:r>
            <a:endParaRPr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"Dr. Esteban Laureano Maradona"</a:t>
            </a:r>
            <a:endParaRPr sz="3400"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572350"/>
            <a:ext cx="8520600" cy="30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Es una institución médica especializada en la rehabilitación y desarrollo de programas bajo parámetros de calidad, para pacientes que </a:t>
            </a:r>
            <a:r>
              <a:rPr lang="es-419" sz="1400"/>
              <a:t>requieren</a:t>
            </a:r>
            <a:r>
              <a:rPr lang="es-419" sz="1400"/>
              <a:t> tratamientos complejos, intermedios y/o ambulatorios, los cuales se desarrollan de acuerdo a la gravedad de la lesión que ocasiona discapacidad.</a:t>
            </a:r>
            <a:endParaRPr sz="1400"/>
          </a:p>
          <a:p>
            <a:pPr indent="0" lvl="0" marL="0" rtl="0" algn="just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400"/>
              <a:t>La rehabilitación del paciente subagudo está dirigida a personas que se hallan estables clínica y neurológicamente, lo que contemplan el tratamiento de aquellas que no requieren internación, pero sí un intenso plan de rehabilitación.</a:t>
            </a:r>
            <a:endParaRPr sz="1400"/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21600" y="74150"/>
            <a:ext cx="8520600" cy="109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Centro de Rehabilitación e Investigación </a:t>
            </a:r>
            <a:endParaRPr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"Dr. Esteban Laureano Maradona"</a:t>
            </a:r>
            <a:endParaRPr sz="3400"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650" y="1743163"/>
            <a:ext cx="2927851" cy="2733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3750" y="1743175"/>
            <a:ext cx="3143275" cy="273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2325" y="1551675"/>
            <a:ext cx="2054200" cy="311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21600" y="741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Motivación</a:t>
            </a:r>
            <a:endParaRPr sz="3400"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/>
              <a:t>El foco son </a:t>
            </a:r>
            <a:r>
              <a:rPr lang="es-419" sz="1600"/>
              <a:t>pacientes que necesitan de neurorehabilitación para tratar motricidad y trastornos de equilibrio.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600">
                <a:solidFill>
                  <a:srgbClr val="000000"/>
                </a:solidFill>
              </a:rPr>
              <a:t>Las personas que sufren estos trastornos ven notoriamente afectada su calidad de vida: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-419" sz="1600">
                <a:solidFill>
                  <a:srgbClr val="000000"/>
                </a:solidFill>
              </a:rPr>
              <a:t>dependencia al realizar tareas cotidianas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-419" sz="1600">
                <a:solidFill>
                  <a:srgbClr val="000000"/>
                </a:solidFill>
              </a:rPr>
              <a:t>mayor probabilidad de caídas y fracturas, sobre todo en pacientes ancianos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s-419" sz="1600">
                <a:solidFill>
                  <a:srgbClr val="000000"/>
                </a:solidFill>
              </a:rPr>
              <a:t>vida más sedentaria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315925"/>
            <a:ext cx="8520600" cy="60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Terapia Física</a:t>
            </a:r>
            <a:endParaRPr sz="3400"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419" sz="1600"/>
              <a:t>La </a:t>
            </a:r>
            <a:r>
              <a:rPr b="1" lang="es-419" sz="1600"/>
              <a:t>terapia física</a:t>
            </a:r>
            <a:r>
              <a:rPr lang="es-419" sz="1600"/>
              <a:t>, cumple un rol muy importante en la neurorehabilitación de la motricidad y el </a:t>
            </a:r>
            <a:r>
              <a:rPr lang="es-419" sz="1600"/>
              <a:t>equilibrio</a:t>
            </a:r>
            <a:r>
              <a:rPr lang="es-419" sz="1600"/>
              <a:t>.</a:t>
            </a:r>
            <a:endParaRPr sz="16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600"/>
              <a:t>Se basa en la </a:t>
            </a:r>
            <a:r>
              <a:rPr lang="es-419" sz="1600"/>
              <a:t>realización de una variedad de </a:t>
            </a:r>
            <a:r>
              <a:rPr b="1" lang="es-419" sz="1600"/>
              <a:t>ejercicios</a:t>
            </a:r>
            <a:r>
              <a:rPr lang="es-419" sz="1600"/>
              <a:t> que sirven tanto para el </a:t>
            </a:r>
            <a:r>
              <a:rPr b="1" lang="es-419" sz="1600"/>
              <a:t>tratamiento</a:t>
            </a:r>
            <a:r>
              <a:rPr lang="es-419" sz="1600"/>
              <a:t>, como para determinar la </a:t>
            </a:r>
            <a:r>
              <a:rPr b="1" lang="es-419" sz="1600"/>
              <a:t>evolución</a:t>
            </a:r>
            <a:r>
              <a:rPr lang="es-419" sz="1600"/>
              <a:t> del paciente.</a:t>
            </a:r>
            <a:endParaRPr sz="16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sz="1600"/>
              <a:t>En el caso del equilibrio, habitualmente se realizan ejercicios sobre </a:t>
            </a:r>
            <a:r>
              <a:rPr b="1" lang="es-419" sz="1600"/>
              <a:t>Plataformas de Fuerzas</a:t>
            </a:r>
            <a:r>
              <a:rPr b="1" lang="es-419" sz="1600"/>
              <a:t> </a:t>
            </a:r>
            <a:r>
              <a:rPr lang="es-419" sz="1600"/>
              <a:t>(</a:t>
            </a:r>
            <a:r>
              <a:rPr b="1" lang="es-419" sz="1600"/>
              <a:t>PF</a:t>
            </a:r>
            <a:r>
              <a:rPr lang="es-419" sz="1600"/>
              <a:t>)</a:t>
            </a:r>
            <a:r>
              <a:rPr lang="es-419" sz="1600"/>
              <a:t> para determinar de manera </a:t>
            </a:r>
            <a:r>
              <a:rPr b="1" lang="es-419" sz="1600"/>
              <a:t>objetiva</a:t>
            </a:r>
            <a:r>
              <a:rPr lang="es-419" sz="1600"/>
              <a:t> la evolución del paciente.</a:t>
            </a:r>
            <a:endParaRPr sz="16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i="1" lang="es-419" sz="1600"/>
              <a:t>¿Qué más podemos hacer con herramientas tecnológicas?</a:t>
            </a:r>
            <a:endParaRPr i="1" sz="1600"/>
          </a:p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36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52800"/>
            <a:ext cx="8520600" cy="6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Tecnologías</a:t>
            </a:r>
            <a:endParaRPr sz="3400"/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pic>
        <p:nvPicPr>
          <p:cNvPr descr="sensors-14-18244f3-1024.png"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9475" y="923725"/>
            <a:ext cx="2339877" cy="188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923725"/>
            <a:ext cx="2339876" cy="156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727075"/>
            <a:ext cx="2758599" cy="1840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inect Xbox 360 Recertificado Garantia Local Zona Centro - $ 1.790,00 en  Mercado Libre" id="113" name="Google Shape;11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89348" y="988600"/>
            <a:ext cx="3049550" cy="150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ataforma de desarrollo en tiempo real de Unity | Motor de VR y AR en 3D y  2D" id="114" name="Google Shape;11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01525" y="2639000"/>
            <a:ext cx="2154100" cy="1132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do lo que necesitas para aprender PYTHON ya 🔥" id="115" name="Google Shape;11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3550" y="3747686"/>
            <a:ext cx="1389550" cy="87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QLite - Wikipedia, la enciclopedia libre" id="116" name="Google Shape;116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91325" y="3854000"/>
            <a:ext cx="1389550" cy="66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itHub - OpenNI/OpenNI: OpenNI" id="117" name="Google Shape;117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91238" y="2727075"/>
            <a:ext cx="1505725" cy="150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: - OpenKinect" id="118" name="Google Shape;118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86850" y="2803872"/>
            <a:ext cx="1714500" cy="27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penCV - Wikipedia, la enciclopedia libre" id="119" name="Google Shape;119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29275" y="2638997"/>
            <a:ext cx="792550" cy="97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licaciones Android que debes eliminar porque son peligrosas" id="120" name="Google Shape;120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429500" y="3700223"/>
            <a:ext cx="1714500" cy="965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uieres una distribución Raspbian ligera? Con este tutorial no puede ser  más sencillo" id="121" name="Google Shape;121;p1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717000" y="2559210"/>
            <a:ext cx="1389550" cy="988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sh" id="122" name="Google Shape;122;p1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059025" y="3747675"/>
            <a:ext cx="1505700" cy="6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102128" y="1380887"/>
            <a:ext cx="965846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roduccion a Pygame | Tienda y Tutoriales Arduino" id="124" name="Google Shape;124;p1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954625" y="4355484"/>
            <a:ext cx="1714500" cy="510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52800"/>
            <a:ext cx="8520600" cy="6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Tecnologías</a:t>
            </a:r>
            <a:endParaRPr sz="3400"/>
          </a:p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pic>
        <p:nvPicPr>
          <p:cNvPr id="131" name="Google Shape;131;p20" title="bastet-2-presentac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550" y="823400"/>
            <a:ext cx="4944900" cy="370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315925"/>
            <a:ext cx="8520600" cy="5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Motivación II</a:t>
            </a:r>
            <a:endParaRPr sz="3400"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949313"/>
            <a:ext cx="8520600" cy="3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400"/>
              <a:t>Exergames</a:t>
            </a:r>
            <a:r>
              <a:rPr lang="es-419" sz="1400"/>
              <a:t> o </a:t>
            </a:r>
            <a:r>
              <a:rPr b="1" lang="es-419" sz="1400"/>
              <a:t>juegos activos</a:t>
            </a:r>
            <a:r>
              <a:rPr lang="es-419" sz="1400"/>
              <a:t>: Son videojuegos que incluyen ejercicios, pueden incluir dispositivos para interactuar mediante diferentes formas de sensado: Microsoft Xbox + kinect, Nintendo Wii + Wii Balance Board, Realidad Virtual, etc. </a:t>
            </a:r>
            <a:endParaRPr sz="1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b="1" lang="es-419" sz="1400"/>
              <a:t>Video juegos serios: </a:t>
            </a:r>
            <a:r>
              <a:rPr lang="es-419" sz="1400"/>
              <a:t>son aquellos que persiguen un fin más allá del ánimo lúdico de la aplicación. Son aplicados en medicina, en entrenamiento de personas para determinados trabajos o para lograr determinadas capacidades o habilidades, entre otros.</a:t>
            </a:r>
            <a:endParaRPr sz="1400"/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El objetivo es generar ambientes </a:t>
            </a:r>
            <a:r>
              <a:rPr b="1" lang="es-419" sz="1400"/>
              <a:t>lúdicos</a:t>
            </a:r>
            <a:r>
              <a:rPr lang="es-419" sz="1400"/>
              <a:t> para la rehabilitación. 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Como complemento a los ejercicios tradicionales, incorporan un </a:t>
            </a:r>
            <a:r>
              <a:rPr b="1" lang="es-419" sz="1400"/>
              <a:t>componente psicológico</a:t>
            </a:r>
            <a:r>
              <a:rPr lang="es-419" sz="1400"/>
              <a:t> (desafíos y recompensas). 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Generan </a:t>
            </a:r>
            <a:r>
              <a:rPr b="1" lang="es-419" sz="1400"/>
              <a:t>motivación</a:t>
            </a:r>
            <a:r>
              <a:rPr lang="es-419" sz="1400"/>
              <a:t>, </a:t>
            </a:r>
            <a:r>
              <a:rPr b="1" lang="es-419" sz="1400"/>
              <a:t>concentración</a:t>
            </a:r>
            <a:r>
              <a:rPr lang="es-419" sz="1400"/>
              <a:t> y </a:t>
            </a:r>
            <a:r>
              <a:rPr b="1" lang="es-419" sz="1400"/>
              <a:t>frecuencia</a:t>
            </a:r>
            <a:r>
              <a:rPr lang="es-419" sz="1400"/>
              <a:t> en la realización. 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El registro de las actividades permite a los especialistas una </a:t>
            </a:r>
            <a:r>
              <a:rPr b="1" lang="es-419" sz="1400"/>
              <a:t>evaluación detallada</a:t>
            </a:r>
            <a:r>
              <a:rPr lang="es-419" sz="1400"/>
              <a:t> de índices y mediciones, mientras que potencialmente permitiría la </a:t>
            </a:r>
            <a:r>
              <a:rPr b="1" lang="es-419" sz="1400"/>
              <a:t>telemedicina</a:t>
            </a:r>
            <a:r>
              <a:rPr lang="es-419" sz="1400"/>
              <a:t>.</a:t>
            </a:r>
            <a:endParaRPr sz="1400"/>
          </a:p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0"/>
            <a:ext cx="8520600" cy="7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Exergames de consola y a medida</a:t>
            </a:r>
            <a:endParaRPr sz="3400"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-419" sz="1600"/>
              <a:t>de consola, </a:t>
            </a:r>
            <a:r>
              <a:rPr i="1" lang="es-419" sz="1600"/>
              <a:t>incertezas</a:t>
            </a:r>
            <a:r>
              <a:rPr lang="es-419" sz="1600"/>
              <a:t>: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No todos los exergames de consolas pueden utilizarse con todos los pacientes.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419" sz="1500"/>
              <a:t>¿ Cómo determinar la evolución del paciente?</a:t>
            </a:r>
            <a:endParaRPr sz="15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s-419" sz="1100"/>
              <a:t>¿Utilizando el puntaje del juego?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i="1" lang="es-419" sz="1600"/>
              <a:t>a medida</a:t>
            </a:r>
            <a:r>
              <a:rPr lang="es-419"/>
              <a:t>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Adaptar</a:t>
            </a:r>
            <a:r>
              <a:rPr lang="es-419" sz="1400"/>
              <a:t> el ejercicio a las capacidades del paciente:</a:t>
            </a:r>
            <a:endParaRPr sz="14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es-419" sz="1200"/>
              <a:t>parametrizando los desafíos o dificultades de ambos componentes (</a:t>
            </a:r>
            <a:r>
              <a:rPr b="1" lang="es-419" sz="1200"/>
              <a:t>fisiológico</a:t>
            </a:r>
            <a:r>
              <a:rPr lang="es-419" sz="1200"/>
              <a:t> y </a:t>
            </a:r>
            <a:r>
              <a:rPr b="1" lang="es-419" sz="1200"/>
              <a:t>psicológico</a:t>
            </a:r>
            <a:r>
              <a:rPr lang="es-419" sz="1200"/>
              <a:t>).</a:t>
            </a:r>
            <a:endParaRPr sz="12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Evitar</a:t>
            </a:r>
            <a:r>
              <a:rPr lang="es-419" sz="1400"/>
              <a:t> el uso de la consolas o dispositivos descontinuados (Wii, kinect, etc).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Portabilidad y accesibilidad (incrementada si se ejecuta en una </a:t>
            </a:r>
            <a:r>
              <a:rPr b="1" lang="es-419" sz="1400"/>
              <a:t>mini-pc).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5" name="Google Shape;14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36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315925"/>
            <a:ext cx="8520600" cy="5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Propuestas</a:t>
            </a:r>
            <a:endParaRPr sz="3400"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Rehabilitación de motricidad de brazo y mano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Sistema de exergames basados en </a:t>
            </a:r>
            <a:r>
              <a:rPr lang="es-419"/>
              <a:t>Kinect para rehabilitación motora en desórdenes neurológicos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Desarrollo de un sistema para neurorehabilitación basado en plataforma de balance y mini-pc (sistemas embebidos)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315925"/>
            <a:ext cx="8520600" cy="5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Rehabilitación de motricidad de brazo y mano</a:t>
            </a:r>
            <a:endParaRPr sz="3400"/>
          </a:p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447" y="1539300"/>
            <a:ext cx="3502745" cy="2176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4200" y="1539300"/>
            <a:ext cx="2953938" cy="217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315925"/>
            <a:ext cx="8520600" cy="5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Rehabilitación de motricidad de brazo y mano</a:t>
            </a:r>
            <a:endParaRPr sz="3400"/>
          </a:p>
        </p:txBody>
      </p:sp>
      <p:sp>
        <p:nvSpPr>
          <p:cNvPr id="166" name="Google Shape;16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276075"/>
            <a:ext cx="3829716" cy="255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8513" y="1341624"/>
            <a:ext cx="4373775" cy="246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325775" y="4236475"/>
            <a:ext cx="79698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chemeClr val="dk1"/>
                </a:solidFill>
              </a:rPr>
              <a:t>La Terapia de espejo se formaliza para ayudar a aliviar el dolor del "miembro fantasma".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000">
                <a:solidFill>
                  <a:schemeClr val="dk1"/>
                </a:solidFill>
              </a:rPr>
              <a:t>Ramachandran, V. S., and D. Rogers-Ramachandran. "Synaesthesia in phantom limbs induced with mirrors." Proceedings of the Royal Society of London. Series B: Biological Sciences 263.1369 (1996): 377-386.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315925"/>
            <a:ext cx="8520600" cy="5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Rehabilitación de motricidad de brazo y mano</a:t>
            </a:r>
            <a:endParaRPr sz="3400"/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pic>
        <p:nvPicPr>
          <p:cNvPr id="176" name="Google Shape;17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750" y="950576"/>
            <a:ext cx="6626500" cy="13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50" y="2945787"/>
            <a:ext cx="1840050" cy="1177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2525" y="2945776"/>
            <a:ext cx="1570186" cy="117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/>
          <p:cNvPicPr preferRelativeResize="0"/>
          <p:nvPr/>
        </p:nvPicPr>
        <p:blipFill rotWithShape="1">
          <a:blip r:embed="rId6">
            <a:alphaModFix/>
          </a:blip>
          <a:srcRect b="6500" l="859" r="1455" t="2458"/>
          <a:stretch/>
        </p:blipFill>
        <p:spPr>
          <a:xfrm rot="10800000">
            <a:off x="3667577" y="2939899"/>
            <a:ext cx="3349998" cy="118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42450" y="2945775"/>
            <a:ext cx="1840054" cy="11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311700" y="315925"/>
            <a:ext cx="8520600" cy="5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Rehabilitación de motricidad de brazo y mano</a:t>
            </a:r>
            <a:endParaRPr sz="3400"/>
          </a:p>
        </p:txBody>
      </p:sp>
      <p:sp>
        <p:nvSpPr>
          <p:cNvPr id="186" name="Google Shape;18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pic>
        <p:nvPicPr>
          <p:cNvPr id="187" name="Google Shape;18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250" y="868826"/>
            <a:ext cx="5179475" cy="291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1096875" y="4075975"/>
            <a:ext cx="77355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Modo 1: Movimiento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Solo movimiento de la mano. Pacientes con mayores dificultades motrices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Poca a nula movilidad en los dedos y muñeca</a:t>
            </a:r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311700" y="315925"/>
            <a:ext cx="8520600" cy="5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Rehabilitación de motricidad de brazo y mano</a:t>
            </a:r>
            <a:endParaRPr sz="3400"/>
          </a:p>
        </p:txBody>
      </p:sp>
      <p:sp>
        <p:nvSpPr>
          <p:cNvPr id="194" name="Google Shape;19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sp>
        <p:nvSpPr>
          <p:cNvPr id="195" name="Google Shape;195;p28"/>
          <p:cNvSpPr txBox="1"/>
          <p:nvPr/>
        </p:nvSpPr>
        <p:spPr>
          <a:xfrm>
            <a:off x="1096875" y="4075975"/>
            <a:ext cx="77355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Modo 2: Movimiento y Gestos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incorporan gestos con la mano. Para pacientes con movilidad en los dedos y muñeca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525" y="868825"/>
            <a:ext cx="5502950" cy="309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311700" y="315925"/>
            <a:ext cx="8520600" cy="5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Rehabilitación de motricidad de brazo y mano</a:t>
            </a:r>
            <a:endParaRPr sz="3400"/>
          </a:p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sp>
        <p:nvSpPr>
          <p:cNvPr id="203" name="Google Shape;203;p29"/>
          <p:cNvSpPr txBox="1"/>
          <p:nvPr/>
        </p:nvSpPr>
        <p:spPr>
          <a:xfrm>
            <a:off x="1096875" y="4075975"/>
            <a:ext cx="77355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Modo 3: Movimiento y Gestos 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combinan gestos con movimientos en simultáneo. Pacientes con mayor movilidad en los dedos y muñeca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04" name="Google Shape;20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862" y="979925"/>
            <a:ext cx="5308275" cy="29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>
            <p:ph type="title"/>
          </p:nvPr>
        </p:nvSpPr>
        <p:spPr>
          <a:xfrm>
            <a:off x="311700" y="315925"/>
            <a:ext cx="8520600" cy="5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Rehabilitación de motricidad de brazo y mano</a:t>
            </a:r>
            <a:endParaRPr sz="3400"/>
          </a:p>
        </p:txBody>
      </p:sp>
      <p:sp>
        <p:nvSpPr>
          <p:cNvPr id="210" name="Google Shape;21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sp>
        <p:nvSpPr>
          <p:cNvPr id="211" name="Google Shape;211;p30"/>
          <p:cNvSpPr txBox="1"/>
          <p:nvPr/>
        </p:nvSpPr>
        <p:spPr>
          <a:xfrm>
            <a:off x="855100" y="868825"/>
            <a:ext cx="77355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Hacia </a:t>
            </a:r>
            <a:r>
              <a:rPr i="1"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dónde</a:t>
            </a:r>
            <a:r>
              <a:rPr i="1"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vamos …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12" name="Google Shape;21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600" y="1584600"/>
            <a:ext cx="2942513" cy="16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8413" y="1584599"/>
            <a:ext cx="2942498" cy="1731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licaciones Android que debes eliminar porque son peligrosas" id="214" name="Google Shape;21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0900" y="2184173"/>
            <a:ext cx="1714500" cy="965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 rotWithShape="1">
          <a:blip r:embed="rId6">
            <a:alphaModFix/>
          </a:blip>
          <a:srcRect b="31503" l="25585" r="25541" t="16793"/>
          <a:stretch/>
        </p:blipFill>
        <p:spPr>
          <a:xfrm>
            <a:off x="6292525" y="3616950"/>
            <a:ext cx="1881677" cy="112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311700" y="176400"/>
            <a:ext cx="8520600" cy="72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Kinect para rehabilitación motora en desórdenes neurológicos</a:t>
            </a:r>
            <a:endParaRPr sz="3400"/>
          </a:p>
        </p:txBody>
      </p:sp>
      <p:sp>
        <p:nvSpPr>
          <p:cNvPr id="221" name="Google Shape;22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pic>
        <p:nvPicPr>
          <p:cNvPr id="222" name="Google Shape;22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525" y="1189000"/>
            <a:ext cx="2289659" cy="347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ataforma de desarrollo en tiempo real de Unity | Motor de VR y AR en 3D y  2D" id="223" name="Google Shape;22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0000" y="968450"/>
            <a:ext cx="2154100" cy="1132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BI 2015 - Home | Facebook" id="224" name="Google Shape;22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0025" y="3831500"/>
            <a:ext cx="831725" cy="83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1150" y="4092900"/>
            <a:ext cx="2490807" cy="57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inect Xbox 360 Recertificado Garantia Local Zona Centro - $ 1.790,00 en  Mercado Libre" id="226" name="Google Shape;226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56248" y="1862875"/>
            <a:ext cx="3049550" cy="15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>
            <p:ph type="title"/>
          </p:nvPr>
        </p:nvSpPr>
        <p:spPr>
          <a:xfrm>
            <a:off x="311700" y="176400"/>
            <a:ext cx="8520600" cy="72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Kinect para rehabilitación motora en desórdenes neurológicos</a:t>
            </a:r>
            <a:endParaRPr sz="3400"/>
          </a:p>
        </p:txBody>
      </p:sp>
      <p:sp>
        <p:nvSpPr>
          <p:cNvPr id="232" name="Google Shape;23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sp>
        <p:nvSpPr>
          <p:cNvPr id="233" name="Google Shape;233;p32"/>
          <p:cNvSpPr txBox="1"/>
          <p:nvPr/>
        </p:nvSpPr>
        <p:spPr>
          <a:xfrm>
            <a:off x="503375" y="905400"/>
            <a:ext cx="8133000" cy="1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</a:rPr>
              <a:t>Ejercicio 1</a:t>
            </a:r>
            <a:r>
              <a:rPr lang="es-419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>
                <a:solidFill>
                  <a:schemeClr val="dk1"/>
                </a:solidFill>
              </a:rPr>
              <a:t>El paciente entrena la descarga de peso sobre las caderas.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>
                <a:solidFill>
                  <a:schemeClr val="dk1"/>
                </a:solidFill>
              </a:rPr>
              <a:t>El ángulo puede configurarse entre los 12° y los 15°.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>
                <a:solidFill>
                  <a:schemeClr val="dk1"/>
                </a:solidFill>
              </a:rPr>
              <a:t>El ángulo logrado es medido en cada iteración.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4" name="Google Shape;23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1378" y="1955650"/>
            <a:ext cx="3561251" cy="29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311700" y="176400"/>
            <a:ext cx="8520600" cy="72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Kinect para rehabilitación motora en desórdenes neurológicos</a:t>
            </a:r>
            <a:endParaRPr sz="3400"/>
          </a:p>
        </p:txBody>
      </p:sp>
      <p:sp>
        <p:nvSpPr>
          <p:cNvPr id="240" name="Google Shape;24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sp>
        <p:nvSpPr>
          <p:cNvPr id="241" name="Google Shape;241;p33"/>
          <p:cNvSpPr txBox="1"/>
          <p:nvPr/>
        </p:nvSpPr>
        <p:spPr>
          <a:xfrm>
            <a:off x="503375" y="905400"/>
            <a:ext cx="81330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</a:rPr>
              <a:t>Ejercicio 2</a:t>
            </a:r>
            <a:r>
              <a:rPr lang="es-419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>
                <a:solidFill>
                  <a:schemeClr val="dk1"/>
                </a:solidFill>
              </a:rPr>
              <a:t>El paciente entrena la estabilidad mediante la flexión de piernas.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>
                <a:solidFill>
                  <a:schemeClr val="dk1"/>
                </a:solidFill>
              </a:rPr>
              <a:t>Corregir el arrastre del pie.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>
                <a:solidFill>
                  <a:schemeClr val="dk1"/>
                </a:solidFill>
              </a:rPr>
              <a:t>Entrenar las posturas de marcha en el lugar.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2" name="Google Shape;24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8388" y="2032575"/>
            <a:ext cx="4922975" cy="29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/>
          <p:nvPr>
            <p:ph type="title"/>
          </p:nvPr>
        </p:nvSpPr>
        <p:spPr>
          <a:xfrm>
            <a:off x="311700" y="176400"/>
            <a:ext cx="8520600" cy="72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Kinect para rehabilitación motora en desórdenes neurológicos</a:t>
            </a:r>
            <a:endParaRPr sz="3400"/>
          </a:p>
        </p:txBody>
      </p:sp>
      <p:sp>
        <p:nvSpPr>
          <p:cNvPr id="248" name="Google Shape;24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sp>
        <p:nvSpPr>
          <p:cNvPr id="249" name="Google Shape;249;p34"/>
          <p:cNvSpPr txBox="1"/>
          <p:nvPr/>
        </p:nvSpPr>
        <p:spPr>
          <a:xfrm>
            <a:off x="503375" y="905400"/>
            <a:ext cx="8133000" cy="1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</a:rPr>
              <a:t>Ejercicio 3</a:t>
            </a:r>
            <a:r>
              <a:rPr lang="es-419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>
                <a:solidFill>
                  <a:schemeClr val="dk1"/>
                </a:solidFill>
              </a:rPr>
              <a:t>Entrenar la pre-marcha y marcha.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>
                <a:solidFill>
                  <a:schemeClr val="dk1"/>
                </a:solidFill>
              </a:rPr>
              <a:t>Dos formas de retornar a la posición de inicio:</a:t>
            </a:r>
            <a:endParaRPr sz="15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Girar 180° y volver.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419">
                <a:solidFill>
                  <a:schemeClr val="dk1"/>
                </a:solidFill>
              </a:rPr>
              <a:t>Volver marcha atrás.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419" sz="1500">
                <a:solidFill>
                  <a:schemeClr val="dk1"/>
                </a:solidFill>
              </a:rPr>
              <a:t>El objetivo es generar un engrama motriz sobre el proceso de marcha.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0" name="Google Shape;25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300" y="2429700"/>
            <a:ext cx="4815500" cy="250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type="title"/>
          </p:nvPr>
        </p:nvSpPr>
        <p:spPr>
          <a:xfrm>
            <a:off x="311700" y="176400"/>
            <a:ext cx="8520600" cy="59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Kinect para rehabilitación motora en desórdenes neurológicos</a:t>
            </a:r>
            <a:endParaRPr sz="3400"/>
          </a:p>
        </p:txBody>
      </p:sp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sp>
        <p:nvSpPr>
          <p:cNvPr id="257" name="Google Shape;257;p35"/>
          <p:cNvSpPr txBox="1"/>
          <p:nvPr/>
        </p:nvSpPr>
        <p:spPr>
          <a:xfrm>
            <a:off x="503375" y="905400"/>
            <a:ext cx="8133000" cy="17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</a:rPr>
              <a:t>Resultados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s-419" sz="1500">
                <a:solidFill>
                  <a:schemeClr val="dk1"/>
                </a:solidFill>
              </a:rPr>
              <a:t>Pruebas en especialistas y pacientes</a:t>
            </a:r>
            <a:endParaRPr sz="15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s-419" sz="1300">
                <a:solidFill>
                  <a:schemeClr val="dk1"/>
                </a:solidFill>
              </a:rPr>
              <a:t>Fem - 18 - Tumor Cerebral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s-419" sz="1300">
                <a:solidFill>
                  <a:schemeClr val="dk1"/>
                </a:solidFill>
              </a:rPr>
              <a:t>Fem - 38 - ACV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s-419" sz="1300">
                <a:solidFill>
                  <a:schemeClr val="dk1"/>
                </a:solidFill>
              </a:rPr>
              <a:t>Masc - 20 - Distrofia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* misma dificultad para todos</a:t>
            </a:r>
            <a:r>
              <a:rPr lang="es-419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/>
          <p:nvPr>
            <p:ph type="title"/>
          </p:nvPr>
        </p:nvSpPr>
        <p:spPr>
          <a:xfrm>
            <a:off x="311700" y="176400"/>
            <a:ext cx="8520600" cy="61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Kinect para rehabilitación motora en desórdenes neurológicos</a:t>
            </a:r>
            <a:endParaRPr sz="3400"/>
          </a:p>
        </p:txBody>
      </p:sp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sp>
        <p:nvSpPr>
          <p:cNvPr id="264" name="Google Shape;264;p36"/>
          <p:cNvSpPr txBox="1"/>
          <p:nvPr/>
        </p:nvSpPr>
        <p:spPr>
          <a:xfrm>
            <a:off x="503375" y="905400"/>
            <a:ext cx="81330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</a:rPr>
              <a:t>Resultados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dk1"/>
                </a:solidFill>
              </a:rPr>
              <a:t>Ejercicio 1</a:t>
            </a:r>
            <a:endParaRPr i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65" name="Google Shape;2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0375" y="955400"/>
            <a:ext cx="5021900" cy="388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type="title"/>
          </p:nvPr>
        </p:nvSpPr>
        <p:spPr>
          <a:xfrm>
            <a:off x="311700" y="176400"/>
            <a:ext cx="8520600" cy="51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Kinect para rehabilitación motora en desórdenes neurológicos</a:t>
            </a:r>
            <a:endParaRPr sz="3400"/>
          </a:p>
        </p:txBody>
      </p:sp>
      <p:sp>
        <p:nvSpPr>
          <p:cNvPr id="271" name="Google Shape;27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sp>
        <p:nvSpPr>
          <p:cNvPr id="272" name="Google Shape;272;p37"/>
          <p:cNvSpPr txBox="1"/>
          <p:nvPr/>
        </p:nvSpPr>
        <p:spPr>
          <a:xfrm>
            <a:off x="503375" y="905400"/>
            <a:ext cx="8133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</a:rPr>
              <a:t>Resultados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-419" sz="1500">
                <a:solidFill>
                  <a:schemeClr val="dk1"/>
                </a:solidFill>
              </a:rPr>
              <a:t>Ejercicio 2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73" name="Google Shape;27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0402" y="1043275"/>
            <a:ext cx="4813075" cy="39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8"/>
          <p:cNvSpPr txBox="1"/>
          <p:nvPr>
            <p:ph type="title"/>
          </p:nvPr>
        </p:nvSpPr>
        <p:spPr>
          <a:xfrm>
            <a:off x="311700" y="176400"/>
            <a:ext cx="8520600" cy="51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Kinect para rehabilitación motora en desórdenes neurológicos</a:t>
            </a:r>
            <a:endParaRPr sz="3400"/>
          </a:p>
        </p:txBody>
      </p:sp>
      <p:sp>
        <p:nvSpPr>
          <p:cNvPr id="279" name="Google Shape;27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sp>
        <p:nvSpPr>
          <p:cNvPr id="280" name="Google Shape;280;p38"/>
          <p:cNvSpPr txBox="1"/>
          <p:nvPr/>
        </p:nvSpPr>
        <p:spPr>
          <a:xfrm>
            <a:off x="503375" y="905400"/>
            <a:ext cx="8133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chemeClr val="dk1"/>
                </a:solidFill>
              </a:rPr>
              <a:t>Análisis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81" name="Google Shape;28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575" y="977325"/>
            <a:ext cx="7133800" cy="378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9"/>
          <p:cNvSpPr txBox="1"/>
          <p:nvPr>
            <p:ph type="title"/>
          </p:nvPr>
        </p:nvSpPr>
        <p:spPr>
          <a:xfrm>
            <a:off x="311700" y="176400"/>
            <a:ext cx="8520600" cy="72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Neurorehabilitación con plataforma de balance y mini-pc</a:t>
            </a:r>
            <a:endParaRPr sz="3400"/>
          </a:p>
        </p:txBody>
      </p:sp>
      <p:sp>
        <p:nvSpPr>
          <p:cNvPr id="287" name="Google Shape;287;p39"/>
          <p:cNvSpPr txBox="1"/>
          <p:nvPr>
            <p:ph idx="1" type="body"/>
          </p:nvPr>
        </p:nvSpPr>
        <p:spPr>
          <a:xfrm>
            <a:off x="311700" y="1006075"/>
            <a:ext cx="8520600" cy="35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u="sng"/>
              <a:t>Plataformas de Fuerza</a:t>
            </a:r>
            <a:r>
              <a:rPr lang="es-419" sz="1400"/>
              <a:t> 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Miden momentos y fuerzas en todos los ejes, determina el centro de presión (</a:t>
            </a:r>
            <a:r>
              <a:rPr b="1" lang="es-419" sz="1400"/>
              <a:t>CdP</a:t>
            </a:r>
            <a:r>
              <a:rPr lang="es-419" sz="1400"/>
              <a:t>).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El material es difícilmente deformable. Precisión 0.005 mm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Peso ~30 Kg y Precio ~ US$20.000</a:t>
            </a:r>
            <a:endParaRPr sz="1400"/>
          </a:p>
        </p:txBody>
      </p:sp>
      <p:pic>
        <p:nvPicPr>
          <p:cNvPr descr="bfw-pins.png" id="288" name="Google Shape;288;p39"/>
          <p:cNvPicPr preferRelativeResize="0"/>
          <p:nvPr/>
        </p:nvPicPr>
        <p:blipFill rotWithShape="1">
          <a:blip r:embed="rId3">
            <a:alphaModFix/>
          </a:blip>
          <a:srcRect b="0" l="0" r="0" t="6594"/>
          <a:stretch/>
        </p:blipFill>
        <p:spPr>
          <a:xfrm>
            <a:off x="4283625" y="2698712"/>
            <a:ext cx="2466775" cy="1797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84-cr2oi6.gif" id="289" name="Google Shape;289;p39"/>
          <p:cNvPicPr preferRelativeResize="0"/>
          <p:nvPr/>
        </p:nvPicPr>
        <p:blipFill rotWithShape="1">
          <a:blip r:embed="rId4">
            <a:alphaModFix/>
          </a:blip>
          <a:srcRect b="0" l="8747" r="10853" t="0"/>
          <a:stretch/>
        </p:blipFill>
        <p:spPr>
          <a:xfrm>
            <a:off x="7283775" y="2668400"/>
            <a:ext cx="1493575" cy="18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pic>
        <p:nvPicPr>
          <p:cNvPr id="291" name="Google Shape;29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2625" y="2574400"/>
            <a:ext cx="2352024" cy="204574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9"/>
          <p:cNvSpPr txBox="1"/>
          <p:nvPr/>
        </p:nvSpPr>
        <p:spPr>
          <a:xfrm>
            <a:off x="419800" y="4579375"/>
            <a:ext cx="633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Open Sans"/>
                <a:ea typeface="Open Sans"/>
                <a:cs typeface="Open Sans"/>
                <a:sym typeface="Open Sans"/>
              </a:rPr>
              <a:t>* 𝐀𝐧𝐚́𝐥𝐢𝐬𝐢𝐬 𝐝𝐞 𝐌𝐨𝐯𝐢𝐦𝐢𝐞𝐧𝐭𝐨 𝐇𝐮𝐦𝐚𝐧𝐨 𝐞𝐧 𝟑𝐃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0"/>
          <p:cNvSpPr txBox="1"/>
          <p:nvPr>
            <p:ph type="title"/>
          </p:nvPr>
        </p:nvSpPr>
        <p:spPr>
          <a:xfrm>
            <a:off x="311700" y="176500"/>
            <a:ext cx="8520600" cy="6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Wii Balance Board y mini-pc</a:t>
            </a:r>
            <a:endParaRPr sz="3400"/>
          </a:p>
        </p:txBody>
      </p:sp>
      <p:sp>
        <p:nvSpPr>
          <p:cNvPr id="298" name="Google Shape;298;p40"/>
          <p:cNvSpPr txBox="1"/>
          <p:nvPr>
            <p:ph idx="1" type="body"/>
          </p:nvPr>
        </p:nvSpPr>
        <p:spPr>
          <a:xfrm>
            <a:off x="311700" y="972450"/>
            <a:ext cx="8520600" cy="15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Permite calcular el centro de presión (</a:t>
            </a:r>
            <a:r>
              <a:rPr b="1" lang="es-419" sz="1400"/>
              <a:t>CdP</a:t>
            </a:r>
            <a:r>
              <a:rPr lang="es-419" sz="1400"/>
              <a:t>) del usuario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4 sensores de presión (</a:t>
            </a:r>
            <a:r>
              <a:rPr lang="es-419" sz="1400"/>
              <a:t>mide la fuerza en la dirección z)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Peso máximo del paciente (~130Kg)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peso de la plataforma ~3.5kg y precio ~u$s 80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conexión </a:t>
            </a:r>
            <a:r>
              <a:rPr lang="es-419" sz="1400"/>
              <a:t>vía</a:t>
            </a:r>
            <a:r>
              <a:rPr lang="es-419" sz="1400"/>
              <a:t> bluetooth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ensors-14-18244f3-1024.png" id="299" name="Google Shape;29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3575" y="972450"/>
            <a:ext cx="2122775" cy="170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36</a:t>
            </a:r>
            <a:endParaRPr/>
          </a:p>
        </p:txBody>
      </p:sp>
      <p:sp>
        <p:nvSpPr>
          <p:cNvPr id="301" name="Google Shape;301;p40"/>
          <p:cNvSpPr txBox="1"/>
          <p:nvPr>
            <p:ph idx="1" type="body"/>
          </p:nvPr>
        </p:nvSpPr>
        <p:spPr>
          <a:xfrm>
            <a:off x="311700" y="2429525"/>
            <a:ext cx="8520600" cy="23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/>
              <a:t>Mini-pc (</a:t>
            </a:r>
            <a:r>
              <a:rPr lang="es-419" sz="1400"/>
              <a:t>computadora de placa de reducida o SBC Single Board Computer)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Ventajas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s-419" sz="1000"/>
              <a:t>tamaño y peso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s-419" sz="1000"/>
              <a:t>menor mantenimiento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s-419" sz="1000"/>
              <a:t>sencilla re-instalación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 sz="1400"/>
              <a:t>Rasberry Pi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s-419" sz="1000"/>
              <a:t>mejor relación costo - beneficio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s-419" sz="1000"/>
              <a:t>precio ~u$s 35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s-419" sz="1000"/>
              <a:t>tamaño de una tarjeta de crédito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s-419" sz="1000"/>
              <a:t>HDMI, WiFi, Bluetooth, USB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s-419" sz="1000"/>
              <a:t>Raspbian: S.O. propio basado en Debian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6462" y="2995125"/>
            <a:ext cx="2177001" cy="14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/>
          <p:nvPr>
            <p:ph type="title"/>
          </p:nvPr>
        </p:nvSpPr>
        <p:spPr>
          <a:xfrm>
            <a:off x="311700" y="154500"/>
            <a:ext cx="8520600" cy="5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Sistema portable, útil y accesible</a:t>
            </a:r>
            <a:endParaRPr sz="3400"/>
          </a:p>
        </p:txBody>
      </p:sp>
      <p:sp>
        <p:nvSpPr>
          <p:cNvPr id="308" name="Google Shape;308;p41"/>
          <p:cNvSpPr txBox="1"/>
          <p:nvPr>
            <p:ph idx="1" type="body"/>
          </p:nvPr>
        </p:nvSpPr>
        <p:spPr>
          <a:xfrm>
            <a:off x="311700" y="1225225"/>
            <a:ext cx="4960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WBB o alternativa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mini-pc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s</a:t>
            </a:r>
            <a:r>
              <a:rPr lang="es-419" sz="1600"/>
              <a:t>oftware de registro y estadísticas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cámara de video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Puede favorecer la asistencia remota</a:t>
            </a:r>
            <a:endParaRPr sz="1600"/>
          </a:p>
        </p:txBody>
      </p:sp>
      <p:pic>
        <p:nvPicPr>
          <p:cNvPr id="309" name="Google Shape;309;p41"/>
          <p:cNvPicPr preferRelativeResize="0"/>
          <p:nvPr/>
        </p:nvPicPr>
        <p:blipFill rotWithShape="1">
          <a:blip r:embed="rId3">
            <a:alphaModFix/>
          </a:blip>
          <a:srcRect b="0" l="7913" r="7896" t="5553"/>
          <a:stretch/>
        </p:blipFill>
        <p:spPr>
          <a:xfrm>
            <a:off x="4992825" y="1038762"/>
            <a:ext cx="3238975" cy="37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36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231425"/>
            <a:ext cx="8520600" cy="60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Ejercicios</a:t>
            </a:r>
            <a:endParaRPr sz="3400"/>
          </a:p>
        </p:txBody>
      </p:sp>
      <p:sp>
        <p:nvSpPr>
          <p:cNvPr id="316" name="Google Shape;316;p42"/>
          <p:cNvSpPr txBox="1"/>
          <p:nvPr>
            <p:ph idx="1" type="body"/>
          </p:nvPr>
        </p:nvSpPr>
        <p:spPr>
          <a:xfrm>
            <a:off x="311700" y="954850"/>
            <a:ext cx="8520600" cy="3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Un ejercicio de </a:t>
            </a:r>
            <a:r>
              <a:rPr b="1" lang="es-419" sz="1600"/>
              <a:t>evaluación funcional</a:t>
            </a:r>
            <a:r>
              <a:rPr lang="es-419" sz="1600"/>
              <a:t>: 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El paciente debe alcanzar 6 objetivos establecidos: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s-419" sz="1200"/>
              <a:t>aparece un objetivo a la vez (esquinas, centro arriba, centro abajo)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Regresando al punto de partida (centro) entre objetivo y objetivo.</a:t>
            </a:r>
            <a:endParaRPr sz="1600"/>
          </a:p>
        </p:txBody>
      </p:sp>
      <p:pic>
        <p:nvPicPr>
          <p:cNvPr id="317" name="Google Shape;31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525" y="2490550"/>
            <a:ext cx="2542476" cy="19068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18" name="Google Shape;31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36</a:t>
            </a:r>
            <a:endParaRPr/>
          </a:p>
        </p:txBody>
      </p:sp>
      <p:pic>
        <p:nvPicPr>
          <p:cNvPr id="319" name="Google Shape;31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7350" y="2490549"/>
            <a:ext cx="2542458" cy="190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 txBox="1"/>
          <p:nvPr>
            <p:ph type="title"/>
          </p:nvPr>
        </p:nvSpPr>
        <p:spPr>
          <a:xfrm>
            <a:off x="311700" y="315925"/>
            <a:ext cx="8520600" cy="56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Ejercicios</a:t>
            </a:r>
            <a:endParaRPr sz="3400"/>
          </a:p>
        </p:txBody>
      </p:sp>
      <p:sp>
        <p:nvSpPr>
          <p:cNvPr id="325" name="Google Shape;325;p43"/>
          <p:cNvSpPr txBox="1"/>
          <p:nvPr>
            <p:ph idx="1" type="body"/>
          </p:nvPr>
        </p:nvSpPr>
        <p:spPr>
          <a:xfrm>
            <a:off x="311700" y="1225225"/>
            <a:ext cx="796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Dos ejercicios de </a:t>
            </a:r>
            <a:r>
              <a:rPr b="1" lang="es-419" sz="1600"/>
              <a:t>entrenamiento</a:t>
            </a:r>
            <a:r>
              <a:rPr lang="es-419" sz="1600"/>
              <a:t>:</a:t>
            </a:r>
            <a:endParaRPr sz="1600"/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AutoNum type="arabicPeriod"/>
            </a:pPr>
            <a:r>
              <a:rPr lang="es-419" sz="1300"/>
              <a:t>O</a:t>
            </a:r>
            <a:r>
              <a:rPr lang="es-419" sz="1300"/>
              <a:t>bjetivo aleatorio, cumplido un objetivo aparece el siguiente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s-419" sz="1300"/>
              <a:t>Varios</a:t>
            </a:r>
            <a:r>
              <a:rPr lang="es-419" sz="1300"/>
              <a:t> objetivos a la vez, se debe respetar un orden de realización basado en los </a:t>
            </a:r>
            <a:r>
              <a:rPr b="1" lang="es-419" sz="1300"/>
              <a:t>colores</a:t>
            </a:r>
            <a:r>
              <a:rPr lang="es-419" sz="1300"/>
              <a:t>. Incorpora un</a:t>
            </a:r>
            <a:r>
              <a:rPr lang="es-419" sz="1300"/>
              <a:t>a tarea cognitiva.</a:t>
            </a:r>
            <a:endParaRPr sz="1300"/>
          </a:p>
        </p:txBody>
      </p:sp>
      <p:pic>
        <p:nvPicPr>
          <p:cNvPr id="326" name="Google Shape;32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3575" y="2752898"/>
            <a:ext cx="2675426" cy="200657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27" name="Google Shape;32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/36</a:t>
            </a:r>
            <a:endParaRPr/>
          </a:p>
        </p:txBody>
      </p:sp>
      <p:pic>
        <p:nvPicPr>
          <p:cNvPr id="328" name="Google Shape;32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4700" y="2752900"/>
            <a:ext cx="2675426" cy="2006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 txBox="1"/>
          <p:nvPr>
            <p:ph type="title"/>
          </p:nvPr>
        </p:nvSpPr>
        <p:spPr>
          <a:xfrm>
            <a:off x="311700" y="315925"/>
            <a:ext cx="8520600" cy="5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Rehabilitación de WBB y mini-pc</a:t>
            </a:r>
            <a:endParaRPr sz="3400"/>
          </a:p>
        </p:txBody>
      </p:sp>
      <p:sp>
        <p:nvSpPr>
          <p:cNvPr id="334" name="Google Shape;33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sp>
        <p:nvSpPr>
          <p:cNvPr id="335" name="Google Shape;335;p44"/>
          <p:cNvSpPr txBox="1"/>
          <p:nvPr/>
        </p:nvSpPr>
        <p:spPr>
          <a:xfrm>
            <a:off x="704250" y="868825"/>
            <a:ext cx="77355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Hacia dónde vamos …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36" name="Google Shape;336;p44"/>
          <p:cNvSpPr txBox="1"/>
          <p:nvPr/>
        </p:nvSpPr>
        <p:spPr>
          <a:xfrm>
            <a:off x="855100" y="1297525"/>
            <a:ext cx="77355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Esperando la devolución de la cátedra de PFC para la defensa del proyecto.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Nos queda en un futuro cercano, la etapa final de pruebas con pacientes.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A mediano plazo la integración con Kinect y el desarrollo previo.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37" name="Google Shape;33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225" y="3834775"/>
            <a:ext cx="2590150" cy="6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3900" y="3218975"/>
            <a:ext cx="2616896" cy="84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100" y="2691800"/>
            <a:ext cx="2222376" cy="222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 txBox="1"/>
          <p:nvPr>
            <p:ph type="title"/>
          </p:nvPr>
        </p:nvSpPr>
        <p:spPr>
          <a:xfrm>
            <a:off x="311700" y="315925"/>
            <a:ext cx="8520600" cy="5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Rehabilitación de WBB y mini-pc</a:t>
            </a:r>
            <a:endParaRPr sz="3400"/>
          </a:p>
        </p:txBody>
      </p:sp>
      <p:sp>
        <p:nvSpPr>
          <p:cNvPr id="345" name="Google Shape;345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</a:t>
            </a:r>
            <a:r>
              <a:rPr lang="es-419"/>
              <a:t>36</a:t>
            </a:r>
            <a:endParaRPr/>
          </a:p>
        </p:txBody>
      </p:sp>
      <p:pic>
        <p:nvPicPr>
          <p:cNvPr id="346" name="Google Shape;346;p45" title="Video_Presentacion_Baste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2613" y="1176600"/>
            <a:ext cx="7018776" cy="3407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"/>
          <p:cNvSpPr txBox="1"/>
          <p:nvPr>
            <p:ph type="title"/>
          </p:nvPr>
        </p:nvSpPr>
        <p:spPr>
          <a:xfrm>
            <a:off x="311700" y="315925"/>
            <a:ext cx="8520600" cy="4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Incorporar la IC en estos proyectos ...</a:t>
            </a:r>
            <a:endParaRPr sz="3400"/>
          </a:p>
        </p:txBody>
      </p:sp>
      <p:sp>
        <p:nvSpPr>
          <p:cNvPr id="352" name="Google Shape;35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36</a:t>
            </a:r>
            <a:endParaRPr/>
          </a:p>
        </p:txBody>
      </p:sp>
      <p:sp>
        <p:nvSpPr>
          <p:cNvPr id="353" name="Google Shape;353;p46"/>
          <p:cNvSpPr txBox="1"/>
          <p:nvPr/>
        </p:nvSpPr>
        <p:spPr>
          <a:xfrm>
            <a:off x="704250" y="868825"/>
            <a:ext cx="77355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IDEAS</a:t>
            </a:r>
            <a:r>
              <a:rPr i="1"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… ????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type="title"/>
          </p:nvPr>
        </p:nvSpPr>
        <p:spPr>
          <a:xfrm>
            <a:off x="311700" y="315925"/>
            <a:ext cx="8520600" cy="4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/>
              <a:t>Incorporar la IC en estos proyectos ...</a:t>
            </a:r>
            <a:endParaRPr sz="3400"/>
          </a:p>
        </p:txBody>
      </p:sp>
      <p:sp>
        <p:nvSpPr>
          <p:cNvPr id="359" name="Google Shape;35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 / 36</a:t>
            </a:r>
            <a:endParaRPr/>
          </a:p>
        </p:txBody>
      </p:sp>
      <p:sp>
        <p:nvSpPr>
          <p:cNvPr id="360" name="Google Shape;360;p47"/>
          <p:cNvSpPr txBox="1"/>
          <p:nvPr/>
        </p:nvSpPr>
        <p:spPr>
          <a:xfrm>
            <a:off x="704250" y="868825"/>
            <a:ext cx="77355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IDEAS … ????   Algunas que tengo yo: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61" name="Google Shape;361;p47"/>
          <p:cNvSpPr txBox="1"/>
          <p:nvPr/>
        </p:nvSpPr>
        <p:spPr>
          <a:xfrm>
            <a:off x="855100" y="1297525"/>
            <a:ext cx="7735500" cy="21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Desarrollar chatbots para la interacción con pacientes (sobre todo en ambientes VR).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Incorporar Text-To-Speech y/o Automatic Speech Recognition.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Desarrollar sistemas que evalúen los estados de las personas y tomen decisiones acerca de las dificultades, cansancio, nivel de concentración, entretenimiento, etc.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es-419">
                <a:latin typeface="Open Sans"/>
                <a:ea typeface="Open Sans"/>
                <a:cs typeface="Open Sans"/>
                <a:sym typeface="Open Sans"/>
              </a:rPr>
              <a:t>Reconocer gestos faciales para advertir cuando la persona experimenta una situación desagradable o de dolor.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title"/>
          </p:nvPr>
        </p:nvSpPr>
        <p:spPr>
          <a:xfrm>
            <a:off x="820350" y="11063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¿Preguntas?</a:t>
            </a:r>
            <a:endParaRPr/>
          </a:p>
        </p:txBody>
      </p:sp>
      <p:sp>
        <p:nvSpPr>
          <p:cNvPr id="367" name="Google Shape;367;p48"/>
          <p:cNvSpPr txBox="1"/>
          <p:nvPr/>
        </p:nvSpPr>
        <p:spPr>
          <a:xfrm>
            <a:off x="820350" y="2746700"/>
            <a:ext cx="7860000" cy="18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600">
                <a:latin typeface="Open Sans"/>
                <a:ea typeface="Open Sans"/>
                <a:cs typeface="Open Sans"/>
                <a:sym typeface="Open Sans"/>
              </a:rPr>
              <a:t>Todos los trabajos han sido presentados en congresos y uno en revista, pueden accederlos desde https://</a:t>
            </a:r>
            <a:r>
              <a:rPr lang="es-419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sinc.unl.edu.ar</a:t>
            </a:r>
            <a:endParaRPr i="1"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600">
                <a:latin typeface="Open Sans"/>
                <a:ea typeface="Open Sans"/>
                <a:cs typeface="Open Sans"/>
                <a:sym typeface="Open Sans"/>
              </a:rPr>
              <a:t>Nos buscan en el sinc(i) cuando estemos presenciales, pero mientras tanto </a:t>
            </a:r>
            <a:endParaRPr i="1"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latin typeface="Open Sans"/>
                <a:ea typeface="Open Sans"/>
                <a:cs typeface="Open Sans"/>
                <a:sym typeface="Open Sans"/>
              </a:rPr>
              <a:t>emalbornoz@sinc.unl.edu.ar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8" name="Google Shape;36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r>
              <a:rPr lang="es-419"/>
              <a:t>/ 36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